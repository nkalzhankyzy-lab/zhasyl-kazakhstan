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Құрметті әріптестер, қайырлы күн!</a:t>
            </a:r>
          </a:p>
          <a:p/>
          <a:p>
            <a:r>
              <a:t>Мен бүгін «Жасыл Қазақстан» атты интерактивті ортамызды таныстырамын. Бұл жасанды интеллект негізіндегі экологиялық білім беру платформасы.</a:t>
            </a:r>
          </a:p>
          <a:p/>
          <a:p>
            <a:r>
              <a:t>Экранның оң жақ бұрышында QR-код тұр. Қаласаңыздар, телефонмен сканерлеп, баяндама кезінде сайтты өздеріңіз де қарап отыра аласыздар.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Алдымен бір сұрақ: экология біздің денсаулығымызға қаншалықты әсер етеді?</a:t>
            </a:r>
          </a:p>
          <a:p/>
          <a:p>
            <a:r>
              <a:t>Дүниежүзілік денсаулық сақтау ұйымының дерегі бойынша, әлемдегі өлімнің шамамен 23 пайызы қоршаған ортаға байланысты. Ластанған ауадан жыл сайын 7 миллионға жуық адам мерзімінен бұрын қайтыс болады. Ал адамзаттың 99 пайызы нормадан лас ауамен тыныс алады.</a:t>
            </a:r>
          </a:p>
          <a:p/>
          <a:p>
            <a:r>
              <a:t>Әрине, аурудың себебі көп: жас, тұқым қуалау, тамақтану. Бірақ экология — соның ішіндегі біз өзгерте алатын себеп.</a:t>
            </a:r>
          </a:p>
          <a:p/>
          <a:p>
            <a:r>
              <a:t>Біздің оқушылар күніне 5–6 сағат кабинетте отырады. Сондықтан мен өзіме сұрақ қойдым: бір мұғалім ретінде мен не істей аламын? Жауабым қарапайым болды. Жасыл Қазақстанға ұмтылуды өз мектебімізден, өз кабинетімізден бастау.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Біздің идеяның өзегі осы слайдта: Жасыл Қазақстан үлкен науқаннан емес, бір кабинеттен басталады.</a:t>
            </a:r>
          </a:p>
          <a:p/>
          <a:p>
            <a:r>
              <a:t>Бірінші қадам: кабинеттің ауасын өлшейміз, гүл өсіреміз. Екінші: мектептегі кабинеттерді бір-бірімен салыстырамыз. Үшінші: туған өлкеміз Қызылорданың топырағын зерттейміз. Төртінші: осы тәжірибені басқа мектептерге таратамыз.</a:t>
            </a:r>
          </a:p>
          <a:p/>
          <a:p>
            <a:r>
              <a:t>Мұнда оқушы тыңдаушы емес, зерттеуші. Ол өлшейді, есептейді, салыстырады, ал жасанды интеллект оған деректі түсінуге көмектеседі.</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Бұл — платформаның басты беті. Ол қазақ тілінде жасалған, компьютерде де, телефонда да ашылады.</a:t>
            </a:r>
          </a:p>
          <a:p/>
          <a:p>
            <a:r>
              <a:t>Платформада алты бөлім бар. Экокарта — Қазақстанның облыстары мен топырағы. Менің бағым — мектеп картасы мен кабинеттер. Зертхана — тәжірибе нұсқаулықтары. Мектептер — экопаспорт. Сауалнама — оқушының пікірі. Және ЖИ экокеңесші.</a:t>
            </a:r>
          </a:p>
          <a:p/>
          <a:p>
            <a:r>
              <a:t>Ең маңыздысы: барлық бөлім бір-бірімен байланысты. Оқушы енгізген әр өлшем экопаспортқа да, жасанды интеллектке де жетеді.</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Экокартада Қызылорда облысы толық толтырылған. Мына бетте облыстың жеті жерінің топырағын салыстырамыз.</a:t>
            </a:r>
          </a:p>
          <a:p/>
          <a:p>
            <a:r>
              <a:t>Картадан нүктені таңдасаңыз, топырақ кесіндісі, тұздылығы мен pH-ы өзгереді. Мысалы, Аралдың құрғаған табаны — өте күшті тұзданған сор. Ал Жалағаштағы күріш алқабында тұздану адамның әрекетінен болады: көп суарғанда грунт суы көтеріліп, тұзды бетке шығарады. Қызылқұм құмы, керісінше, тұзсыз.</a:t>
            </a:r>
          </a:p>
          <a:p/>
          <a:p>
            <a:r>
              <a:t>Оң жақтағы суретте сортаң топырақтың кесіндісі: бетінде ақ тұз қабығы, ортасында тұз жиналған қабат.</a:t>
            </a:r>
          </a:p>
          <a:p/>
          <a:p>
            <a:r>
              <a:t>Оқушы өз топырақ үлгісінің электр өткізгіштігін өлшеп, сайтқа жазады. Сайт оның облыстың қай жеріне ұқсайтынын көрсетеді. Бұл — химия мен географияның тікелей байланысы.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Менің бағым бөлімінде мектебіміздің картасы бар. Ол спутник суреті бойынша сызылған: ғимарат, аула, ағаштар.</a:t>
            </a:r>
          </a:p>
          <a:p/>
          <a:p>
            <a:r>
              <a:t>Зерттеуге төрт кабинетті алдық. Биология, ағылшын тілі және физика кабинеттерінде гүл көп. Ал математика кабинетін әдейі гүлсіз қалдырдық. Бұл — бақылау кабинеті. Ғылыми зерттеуде салыстыратын нәрсе болуы керек.</a:t>
            </a:r>
          </a:p>
          <a:p/>
          <a:p>
            <a:r>
              <a:t>Әр кабинеттің көлемі, терезесі қай жаққа қарайтыны және гүлдерінің саны енгізілген. Сайт терезе бағытына қарай қай гүлге жарық жететінін де айтады.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Енді ең қызықты сұрақ: мектепте CO₂ өлшегіш жоқ болса, ауаның сапасын қалай білеміз?</a:t>
            </a:r>
          </a:p>
          <a:p/>
          <a:p>
            <a:r>
              <a:t>Бізде қарапайым термогигрометр бар. Ол температура мен ылғалдылықты өлшейді. Оқушы дем шығарғанда ауаға көмірқышқыл газы мен су буы бірге шығады. Демек ылғалдылық қаншалықты өссе, ауа соншалықты аз алмасқан. Осыдан масса балансы формуласы арқылы CO₂-ні есептейміз. Сыртқы ауа райын сайт интернеттен өзі алады.</a:t>
            </a:r>
          </a:p>
          <a:p/>
          <a:p>
            <a:r>
              <a:t>Мұны ашық айтамын: бұл — өлшем емес, ғылыми бағалау. Нақты CO₂ датчигі келесі кезеңде қосылады, платформада оны қабылдайтын бөлім дайын тұр.</a:t>
            </a:r>
          </a:p>
          <a:p/>
          <a:p>
            <a:r>
              <a:t>Бұл жерде оқушы формуланы өзі қолданады. Демек, бұл — математикалық сауаттылықтың нақты мысалы.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Барлық өлшем экопаспортқа жиналады. Әр кабинет «жасыл ұпай» алады: ауаның сапасы үшін 40 ұпай, ылғалдылық үшін 20, гүлдер үшін 25 және күтім үшін 15.</a:t>
            </a:r>
          </a:p>
          <a:p/>
          <a:p>
            <a:r>
              <a:t>Қазіргі алдын ала нәтиже: биология кабинеті — 77 ұпай, ағылшын тілі — 48, физика — 46, гүлсіз математика кабинеті — 37.</a:t>
            </a:r>
          </a:p>
          <a:p/>
          <a:p>
            <a:r>
              <a:t>Рейтинг оқушыларды жарысқа шақырады. Әр сынып өз кабинетін жасылырақ етуге тырысады. Рейтинг астында сайт әр кабинетке не жетіспейтінін де көрсетеді.</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Енді басты сұрақ: гүлді кабинет пен гүлсіз кабинеттің айырмасы бар ма?</a:t>
            </a:r>
          </a:p>
          <a:p/>
          <a:p>
            <a:r>
              <a:t>Әділ болу үшін терезесі бір жаққа қараған кабинеттерді салыстырдық. Нәтиже: гүлді кабинетте ылғалдылық 4 пунктке жоғары. Ал CO₂ шамамен бірдей.</a:t>
            </a:r>
          </a:p>
          <a:p/>
          <a:p>
            <a:r>
              <a:t>Мен мұны ашық айтамын, өйткені ғылым осындай. Әлемдік зерттеулер де бөлме гүлі CO₂-ні айтарлықтай азайтпайтынын көрсетеді. CO₂-ні желдету шешеді. Гүлдің пайдасы басқа жерде: ауаны ылғалдандырады, шаңды ұстайды, оқушының көңіл-күйін көтереді.</a:t>
            </a:r>
          </a:p>
          <a:p/>
          <a:p>
            <a:r>
              <a:t>Сондықтан біз зерттеуді тоқтатпадық. Келесі слайдтарда гүлдің пайдасын тағы қалай тексеретінімізді көрсетемін.</a:t>
            </a:r>
          </a:p>
          <a:p/>
          <a:p>
            <a:r>
              <a:t>(Ескерту: шаң мен сауалнама нәтижесі шыққан болса, осы жерде айтыңыз.)</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Зертхана бөлімінде оқушылар өз қолымен жасайтын төрт тәжірибе бар.</a:t>
            </a:r>
          </a:p>
          <a:p/>
          <a:p>
            <a:r>
              <a:t>Бірінші — CO₂-ні химиялық индикатормен анықтау. Шприцке кабинет ауасын алып, индикатор ерітіндісі арқылы өткіземіз. Түс неше басқанда өзгерсе, CO₂ соған қарай есептеледі. Бұл — датчиксіз, химия арқылы өлшеу.</a:t>
            </a:r>
          </a:p>
          <a:p/>
          <a:p>
            <a:r>
              <a:t>Екінші — гүлдің қанша су буландыратынын таразымен өлшеу. Бұл нәтиже экопаспорттағы CO₂ формуласына да қосылады.</a:t>
            </a:r>
          </a:p>
          <a:p/>
          <a:p>
            <a:r>
              <a:t>Үшінші — микроскоппен лептесікті санау. Төртінші — шаң тәжірибесі.</a:t>
            </a:r>
          </a:p>
          <a:p/>
          <a:p>
            <a:r>
              <a:t>Әр тәжірибеде мақсат, құралдар, қадамдар, қауіпсіздік ережесі және математикалық есеп жазылған.</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Зерттеудің тағы бір маңызды бөлігі — оқушының өз пікірі.</a:t>
            </a:r>
          </a:p>
          <a:p/>
          <a:p>
            <a:r>
              <a:t>Әр кабинеттің QR-коды бар. Сабақ соңында оқушы оны телефонмен сканерлеп, бес сұраққа жауап береді: ауа қандай, қаншалықты шаршады, басы ауырды ма, ауа құрғақ па, көңіл-күйі қандай. Бір минут қана кетеді, аты-жөні жазылмайды.</a:t>
            </a:r>
          </a:p>
          <a:p/>
          <a:p>
            <a:r>
              <a:t>Екінші QR — «Өз бөлмеңді тексер». Оқушы үйдегі бөлмесінің өлшемін, адам санын, гүлін енгізеді, ал сайт оған кеңес береді. Осылайша экологиялық мәдениет мектептен отбасына жетеді.</a:t>
            </a:r>
          </a:p>
          <a:p/>
          <a:p>
            <a:r>
              <a:t>Қазір қаласаңыздар, экрандағы QR-ды сканерлеп, сауалнаманы өздеріңіз толтырып көріңіздер.</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Енді жасанды интеллект туралы.</a:t>
            </a:r>
          </a:p>
          <a:p/>
          <a:p>
            <a:r>
              <a:t>Біздің ЖИ экокеңесші жалпы чат-бот емес. Ол біздің мектептің нақты деректерін көреді: кабинеттерді, сабақ өлшемдерін, сауалнаманы, тәжірибе нәтижелерін. Сондай-ақ сайттағы әлемдік зерттеулерге автор мен жылын атап сілтейді.</a:t>
            </a:r>
          </a:p>
          <a:p/>
          <a:p>
            <a:r>
              <a:t>Біз оған қатаң ереже қойдық: ойдан сан құрастырмау және оқушының орнына қорытынды жасамау. ЖИ себептерді ұсынады, сұрақ қояды, соңында «Тексеріп көр» деп оқушыға тапсырма береді.</a:t>
            </a:r>
          </a:p>
          <a:p/>
          <a:p>
            <a:r>
              <a:t>Біздің басты қағидамыз: ЖИ ұсынады, ал қорытындыны оқушы жасайды. Бұл сыни ойлауға үйретеді.</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(Осы жерде слайдтан шығып, браузердегі сайтқа ауысыңыз. Alt+Tab басыңыз немесе алдын ала ашылған браузер қойындысына өтіңіз.)</a:t>
            </a:r>
          </a:p>
          <a:p/>
          <a:p>
            <a:r>
              <a:t>Енді сайттың өзін тірідей көрсетейін.</a:t>
            </a:r>
          </a:p>
          <a:p/>
          <a:p>
            <a:r>
              <a:t>1. Экокарта: Қызылорда облысын таңдап, «Топырақ» қойындысын ашамын. Сортаң топырақ кесіндісі мен жеті нүктені көрсетемін.</a:t>
            </a:r>
          </a:p>
          <a:p>
            <a:r>
              <a:t>2. Мектептер бөлімі: біздің мектептің экопаспорты мен рейтингі.</a:t>
            </a:r>
          </a:p>
          <a:p>
            <a:r>
              <a:t>3. Зертхана: кабинет тәжірибелері.</a:t>
            </a:r>
          </a:p>
          <a:p>
            <a:r>
              <a:t>4. Сауалнама: залға QR беремін, біреуі жауап береді.</a:t>
            </a:r>
          </a:p>
          <a:p>
            <a:r>
              <a:t>5. ЖИ экокеңесшіге сұрақ қоямын: «Гүлді және гүлсіз кабинеттің деректерін салыстыр».</a:t>
            </a:r>
          </a:p>
          <a:p/>
          <a:p>
            <a:r>
              <a:t>(Барлығы 3–4 минут. Содан кейін слайдтарға қайтып, келесі слайдқа өтіңіз.)</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Қорытындылайын.</a:t>
            </a:r>
          </a:p>
          <a:p/>
          <a:p>
            <a:r>
              <a:t>Біз қазақ тіліндегі интерактивті экологиялық платформа жасадық. Онда төрт кабинеттің экопаспорты бар, датчиксіз CO₂ бағалау әдісі бар, Қызылорда топырағының картасы, төрт зертханалық тәжірибе, QR сауалнама және деректерге сүйенген ЖИ экокеңесші бар.</a:t>
            </a:r>
          </a:p>
          <a:p/>
          <a:p>
            <a:r>
              <a:t>Келесі қадамдар: нақты CO₂ датчигін қосып, ауаны онлайн бақылау. Шаң тәжірибесі мен сауалнаманы толық жинау. Басқа облыстар мен басқа мектептерді қосу.</a:t>
            </a:r>
          </a:p>
          <a:p/>
          <a:p>
            <a:r>
              <a:t>Бұл платформа барлық мектепке ашық. Қосылғысы келетін әріптестерді шақырамын.</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Соңғы сөзім.</a:t>
            </a:r>
          </a:p>
          <a:p/>
          <a:p>
            <a:r>
              <a:t>Біз оқушыларға экологияны кітаптан емес, өз өлшемінен түсіндіргіміз келді. Өз кабинетінің ауасын өлшеген, өз гүлін өсірген, өз топырағын зерттеген оқушы табиғатқа басқаша қарайды.</a:t>
            </a:r>
          </a:p>
          <a:p/>
          <a:p>
            <a:r>
              <a:t>Жасыл Қазақстан бір кабинеттен, бір гүлден басталады.</a:t>
            </a:r>
          </a:p>
          <a:p/>
          <a:p>
            <a:r>
              <a:t>Назарларыңызға рахмет! Сұрақтарыңызға жауап беруге дайынмын.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image" Target="../media/image15.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A2C"/>
        </a:solidFill>
        <a:effectLst/>
      </p:bgPr>
    </p:bg>
    <p:spTree>
      <p:nvGrpSpPr>
        <p:cNvPr id="1" name=""/>
        <p:cNvGrpSpPr/>
        <p:nvPr/>
      </p:nvGrpSpPr>
      <p:grpSpPr/>
      <p:pic>
        <p:nvPicPr>
          <p:cNvPr id="2" name="Picture 1" descr="classroom.jpg"/>
          <p:cNvPicPr>
            <a:picLocks noChangeAspect="1"/>
          </p:cNvPicPr>
          <p:nvPr/>
        </p:nvPicPr>
        <p:blipFill>
          <a:blip r:embed="rId2"/>
          <a:srcRect l="21091" r="21091"/>
          <a:stretch>
            <a:fillRect/>
          </a:stretch>
        </p:blipFill>
        <p:spPr>
          <a:xfrm>
            <a:off x="5852160" y="0"/>
            <a:ext cx="6339535" cy="6858000"/>
          </a:xfrm>
          <a:prstGeom prst="rect">
            <a:avLst/>
          </a:prstGeom>
        </p:spPr>
      </p:pic>
      <p:sp>
        <p:nvSpPr>
          <p:cNvPr id="3" name="Rectangle 2"/>
          <p:cNvSpPr/>
          <p:nvPr/>
        </p:nvSpPr>
        <p:spPr>
          <a:xfrm>
            <a:off x="5852160" y="0"/>
            <a:ext cx="109728"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
            <a:ext cx="5120640" cy="365760"/>
          </a:xfrm>
          <a:prstGeom prst="rect">
            <a:avLst/>
          </a:prstGeom>
          <a:noFill/>
        </p:spPr>
        <p:txBody>
          <a:bodyPr wrap="square" lIns="45720" rIns="45720" tIns="18288" bIns="18288" anchor="t">
            <a:spAutoFit/>
          </a:bodyPr>
          <a:lstStyle/>
          <a:p>
            <a:pPr algn="l">
              <a:lnSpc>
                <a:spcPct val="110000"/>
              </a:lnSpc>
            </a:pPr>
            <a:r>
              <a:rPr sz="1300" b="1">
                <a:solidFill>
                  <a:srgbClr val="B9D8AE"/>
                </a:solidFill>
                <a:latin typeface="Arial"/>
              </a:rPr>
              <a:t>АЙМАҚТЫҚ БИОЛОГИЯ ЖӘНЕ ХИМИЯ СЕМИНАРЫ · 2026</a:t>
            </a:r>
          </a:p>
        </p:txBody>
      </p:sp>
      <p:sp>
        <p:nvSpPr>
          <p:cNvPr id="5" name="TextBox 4"/>
          <p:cNvSpPr txBox="1"/>
          <p:nvPr/>
        </p:nvSpPr>
        <p:spPr>
          <a:xfrm>
            <a:off x="640080" y="1280160"/>
            <a:ext cx="5120640" cy="1828800"/>
          </a:xfrm>
          <a:prstGeom prst="rect">
            <a:avLst/>
          </a:prstGeom>
          <a:noFill/>
        </p:spPr>
        <p:txBody>
          <a:bodyPr wrap="square" lIns="45720" rIns="45720" tIns="18288" bIns="18288" anchor="t">
            <a:spAutoFit/>
          </a:bodyPr>
          <a:lstStyle/>
          <a:p>
            <a:pPr algn="l">
              <a:lnSpc>
                <a:spcPct val="95000"/>
              </a:lnSpc>
            </a:pPr>
            <a:r>
              <a:rPr sz="6000" b="1">
                <a:solidFill>
                  <a:srgbClr val="FFFFFF"/>
                </a:solidFill>
                <a:latin typeface="Arial"/>
              </a:rPr>
              <a:t>Жасыл</a:t>
            </a:r>
          </a:p>
          <a:p>
            <a:pPr algn="l">
              <a:lnSpc>
                <a:spcPct val="95000"/>
              </a:lnSpc>
            </a:pPr>
            <a:r>
              <a:rPr sz="6000" b="1">
                <a:solidFill>
                  <a:srgbClr val="FFFFFF"/>
                </a:solidFill>
                <a:latin typeface="Arial"/>
              </a:rPr>
              <a:t>Қазақстан</a:t>
            </a:r>
          </a:p>
        </p:txBody>
      </p:sp>
      <p:sp>
        <p:nvSpPr>
          <p:cNvPr id="6" name="TextBox 5"/>
          <p:cNvSpPr txBox="1"/>
          <p:nvPr/>
        </p:nvSpPr>
        <p:spPr>
          <a:xfrm>
            <a:off x="640080" y="3246120"/>
            <a:ext cx="5029200" cy="1280160"/>
          </a:xfrm>
          <a:prstGeom prst="rect">
            <a:avLst/>
          </a:prstGeom>
          <a:noFill/>
        </p:spPr>
        <p:txBody>
          <a:bodyPr wrap="square" lIns="45720" rIns="45720" tIns="18288" bIns="18288" anchor="t">
            <a:spAutoFit/>
          </a:bodyPr>
          <a:lstStyle/>
          <a:p>
            <a:pPr algn="l">
              <a:lnSpc>
                <a:spcPct val="110000"/>
              </a:lnSpc>
            </a:pPr>
            <a:r>
              <a:rPr sz="1900" b="0">
                <a:solidFill>
                  <a:srgbClr val="ECF3E8"/>
                </a:solidFill>
                <a:latin typeface="Arial"/>
              </a:rPr>
              <a:t>«Таза Қазақстан» тұжырымдамасы аясында экологиялық білім мен мәдениетті дамыту: ЖИ негізіндегі интерактивті орта</a:t>
            </a:r>
          </a:p>
        </p:txBody>
      </p:sp>
      <p:sp>
        <p:nvSpPr>
          <p:cNvPr id="7" name="TextBox 6"/>
          <p:cNvSpPr txBox="1"/>
          <p:nvPr/>
        </p:nvSpPr>
        <p:spPr>
          <a:xfrm>
            <a:off x="640080" y="4800600"/>
            <a:ext cx="5120640" cy="731520"/>
          </a:xfrm>
          <a:prstGeom prst="rect">
            <a:avLst/>
          </a:prstGeom>
          <a:noFill/>
        </p:spPr>
        <p:txBody>
          <a:bodyPr wrap="square" lIns="45720" rIns="45720" tIns="18288" bIns="18288" anchor="t">
            <a:spAutoFit/>
          </a:bodyPr>
          <a:lstStyle/>
          <a:p>
            <a:pPr algn="l">
              <a:lnSpc>
                <a:spcPct val="110000"/>
              </a:lnSpc>
            </a:pPr>
            <a:r>
              <a:rPr sz="1600" b="0">
                <a:solidFill>
                  <a:srgbClr val="B9D8AE"/>
                </a:solidFill>
                <a:latin typeface="Arial"/>
              </a:rPr>
              <a:t>Жәлел Қизатов атындағы №23 мектеп-лицей</a:t>
            </a:r>
          </a:p>
          <a:p>
            <a:pPr algn="l">
              <a:lnSpc>
                <a:spcPct val="110000"/>
              </a:lnSpc>
            </a:pPr>
            <a:r>
              <a:rPr sz="1600" b="0">
                <a:solidFill>
                  <a:srgbClr val="B9D8AE"/>
                </a:solidFill>
                <a:latin typeface="Arial"/>
              </a:rPr>
              <a:t>Қызылорда</a:t>
            </a:r>
          </a:p>
        </p:txBody>
      </p:sp>
      <p:sp>
        <p:nvSpPr>
          <p:cNvPr id="8" name="Rounded Rectangle 7"/>
          <p:cNvSpPr/>
          <p:nvPr/>
        </p:nvSpPr>
        <p:spPr>
          <a:xfrm>
            <a:off x="10058400" y="4572000"/>
            <a:ext cx="1783080" cy="2011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site.png"/>
          <p:cNvPicPr>
            <a:picLocks noChangeAspect="1"/>
          </p:cNvPicPr>
          <p:nvPr/>
        </p:nvPicPr>
        <p:blipFill>
          <a:blip r:embed="rId3"/>
          <a:stretch>
            <a:fillRect/>
          </a:stretch>
        </p:blipFill>
        <p:spPr>
          <a:xfrm>
            <a:off x="10195560" y="4681728"/>
            <a:ext cx="1508760" cy="1508760"/>
          </a:xfrm>
          <a:prstGeom prst="rect">
            <a:avLst/>
          </a:prstGeom>
        </p:spPr>
      </p:pic>
      <p:sp>
        <p:nvSpPr>
          <p:cNvPr id="10" name="TextBox 9"/>
          <p:cNvSpPr txBox="1"/>
          <p:nvPr/>
        </p:nvSpPr>
        <p:spPr>
          <a:xfrm>
            <a:off x="10058400" y="6199632"/>
            <a:ext cx="1783080" cy="320040"/>
          </a:xfrm>
          <a:prstGeom prst="rect">
            <a:avLst/>
          </a:prstGeom>
          <a:noFill/>
        </p:spPr>
        <p:txBody>
          <a:bodyPr wrap="square" lIns="45720" rIns="45720" tIns="18288" bIns="18288" anchor="t">
            <a:spAutoFit/>
          </a:bodyPr>
          <a:lstStyle/>
          <a:p>
            <a:pPr algn="ctr">
              <a:lnSpc>
                <a:spcPct val="110000"/>
              </a:lnSpc>
            </a:pPr>
            <a:r>
              <a:rPr sz="1100" b="1">
                <a:solidFill>
                  <a:srgbClr val="1F4A2C"/>
                </a:solidFill>
                <a:latin typeface="Arial"/>
              </a:rPr>
              <a:t>Сайтты ашыңыз</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НЕГЕ БҰЛ МАҢЫЗДЫ?</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Экология — денсаулықтың негізгі шарттарының бірі</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2</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ounded Rectangle 6"/>
          <p:cNvSpPr/>
          <p:nvPr/>
        </p:nvSpPr>
        <p:spPr>
          <a:xfrm>
            <a:off x="548640" y="1737360"/>
            <a:ext cx="3566160" cy="301752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3108960" cy="1097280"/>
          </a:xfrm>
          <a:prstGeom prst="rect">
            <a:avLst/>
          </a:prstGeom>
          <a:noFill/>
        </p:spPr>
        <p:txBody>
          <a:bodyPr wrap="square" lIns="45720" rIns="45720" tIns="18288" bIns="18288" anchor="t">
            <a:spAutoFit/>
          </a:bodyPr>
          <a:lstStyle/>
          <a:p>
            <a:pPr algn="l">
              <a:lnSpc>
                <a:spcPct val="110000"/>
              </a:lnSpc>
            </a:pPr>
            <a:r>
              <a:rPr sz="5400" b="1">
                <a:solidFill>
                  <a:srgbClr val="1F4A2C"/>
                </a:solidFill>
                <a:latin typeface="Arial"/>
              </a:rPr>
              <a:t>23%</a:t>
            </a:r>
          </a:p>
        </p:txBody>
      </p:sp>
      <p:sp>
        <p:nvSpPr>
          <p:cNvPr id="9" name="TextBox 8"/>
          <p:cNvSpPr txBox="1"/>
          <p:nvPr/>
        </p:nvSpPr>
        <p:spPr>
          <a:xfrm>
            <a:off x="822960" y="3063240"/>
            <a:ext cx="3108960" cy="1280160"/>
          </a:xfrm>
          <a:prstGeom prst="rect">
            <a:avLst/>
          </a:prstGeom>
          <a:noFill/>
        </p:spPr>
        <p:txBody>
          <a:bodyPr wrap="square" lIns="45720" rIns="45720" tIns="18288" bIns="18288" anchor="t">
            <a:spAutoFit/>
          </a:bodyPr>
          <a:lstStyle/>
          <a:p>
            <a:pPr algn="l">
              <a:lnSpc>
                <a:spcPct val="110000"/>
              </a:lnSpc>
            </a:pPr>
            <a:r>
              <a:rPr sz="1800" b="0">
                <a:solidFill>
                  <a:srgbClr val="262A24"/>
                </a:solidFill>
                <a:latin typeface="Arial"/>
              </a:rPr>
              <a:t>әлемдегі өлімнің шамамен төрттен бірі қоршаған ортаға байланысты</a:t>
            </a:r>
          </a:p>
        </p:txBody>
      </p:sp>
      <p:sp>
        <p:nvSpPr>
          <p:cNvPr id="10" name="TextBox 9"/>
          <p:cNvSpPr txBox="1"/>
          <p:nvPr/>
        </p:nvSpPr>
        <p:spPr>
          <a:xfrm>
            <a:off x="822960" y="4297680"/>
            <a:ext cx="3108960" cy="365760"/>
          </a:xfrm>
          <a:prstGeom prst="rect">
            <a:avLst/>
          </a:prstGeom>
          <a:noFill/>
        </p:spPr>
        <p:txBody>
          <a:bodyPr wrap="square" lIns="45720" rIns="45720" tIns="18288" bIns="18288" anchor="t">
            <a:spAutoFit/>
          </a:bodyPr>
          <a:lstStyle/>
          <a:p>
            <a:pPr algn="l">
              <a:lnSpc>
                <a:spcPct val="110000"/>
              </a:lnSpc>
            </a:pPr>
            <a:r>
              <a:rPr sz="1200" b="0">
                <a:solidFill>
                  <a:srgbClr val="6B675C"/>
                </a:solidFill>
                <a:latin typeface="Arial"/>
              </a:rPr>
              <a:t>ДДСҰ, 2016</a:t>
            </a:r>
          </a:p>
        </p:txBody>
      </p:sp>
      <p:sp>
        <p:nvSpPr>
          <p:cNvPr id="11" name="Rounded Rectangle 10"/>
          <p:cNvSpPr/>
          <p:nvPr/>
        </p:nvSpPr>
        <p:spPr>
          <a:xfrm>
            <a:off x="4343400" y="1737360"/>
            <a:ext cx="3566160" cy="301752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965960"/>
            <a:ext cx="3108960" cy="1097280"/>
          </a:xfrm>
          <a:prstGeom prst="rect">
            <a:avLst/>
          </a:prstGeom>
          <a:noFill/>
        </p:spPr>
        <p:txBody>
          <a:bodyPr wrap="square" lIns="45720" rIns="45720" tIns="18288" bIns="18288" anchor="t">
            <a:spAutoFit/>
          </a:bodyPr>
          <a:lstStyle/>
          <a:p>
            <a:pPr algn="l">
              <a:lnSpc>
                <a:spcPct val="110000"/>
              </a:lnSpc>
            </a:pPr>
            <a:r>
              <a:rPr sz="5400" b="1">
                <a:solidFill>
                  <a:srgbClr val="1F4A2C"/>
                </a:solidFill>
                <a:latin typeface="Arial"/>
              </a:rPr>
              <a:t>≈ 7 млн</a:t>
            </a:r>
          </a:p>
        </p:txBody>
      </p:sp>
      <p:sp>
        <p:nvSpPr>
          <p:cNvPr id="13" name="TextBox 12"/>
          <p:cNvSpPr txBox="1"/>
          <p:nvPr/>
        </p:nvSpPr>
        <p:spPr>
          <a:xfrm>
            <a:off x="4617720" y="3063240"/>
            <a:ext cx="3108960" cy="1280160"/>
          </a:xfrm>
          <a:prstGeom prst="rect">
            <a:avLst/>
          </a:prstGeom>
          <a:noFill/>
        </p:spPr>
        <p:txBody>
          <a:bodyPr wrap="square" lIns="45720" rIns="45720" tIns="18288" bIns="18288" anchor="t">
            <a:spAutoFit/>
          </a:bodyPr>
          <a:lstStyle/>
          <a:p>
            <a:pPr algn="l">
              <a:lnSpc>
                <a:spcPct val="110000"/>
              </a:lnSpc>
            </a:pPr>
            <a:r>
              <a:rPr sz="1800" b="0">
                <a:solidFill>
                  <a:srgbClr val="262A24"/>
                </a:solidFill>
                <a:latin typeface="Arial"/>
              </a:rPr>
              <a:t>адам жыл сайын ластанған ауадан мерзімінен бұрын қайтыс болады</a:t>
            </a:r>
          </a:p>
        </p:txBody>
      </p:sp>
      <p:sp>
        <p:nvSpPr>
          <p:cNvPr id="14" name="TextBox 13"/>
          <p:cNvSpPr txBox="1"/>
          <p:nvPr/>
        </p:nvSpPr>
        <p:spPr>
          <a:xfrm>
            <a:off x="4617720" y="4297680"/>
            <a:ext cx="3108960" cy="365760"/>
          </a:xfrm>
          <a:prstGeom prst="rect">
            <a:avLst/>
          </a:prstGeom>
          <a:noFill/>
        </p:spPr>
        <p:txBody>
          <a:bodyPr wrap="square" lIns="45720" rIns="45720" tIns="18288" bIns="18288" anchor="t">
            <a:spAutoFit/>
          </a:bodyPr>
          <a:lstStyle/>
          <a:p>
            <a:pPr algn="l">
              <a:lnSpc>
                <a:spcPct val="110000"/>
              </a:lnSpc>
            </a:pPr>
            <a:r>
              <a:rPr sz="1200" b="0">
                <a:solidFill>
                  <a:srgbClr val="6B675C"/>
                </a:solidFill>
                <a:latin typeface="Arial"/>
              </a:rPr>
              <a:t>ДДСҰ, 2022</a:t>
            </a:r>
          </a:p>
        </p:txBody>
      </p:sp>
      <p:sp>
        <p:nvSpPr>
          <p:cNvPr id="15" name="Rounded Rectangle 14"/>
          <p:cNvSpPr/>
          <p:nvPr/>
        </p:nvSpPr>
        <p:spPr>
          <a:xfrm>
            <a:off x="8138160" y="1737360"/>
            <a:ext cx="3566160" cy="301752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965960"/>
            <a:ext cx="3108960" cy="1097280"/>
          </a:xfrm>
          <a:prstGeom prst="rect">
            <a:avLst/>
          </a:prstGeom>
          <a:noFill/>
        </p:spPr>
        <p:txBody>
          <a:bodyPr wrap="square" lIns="45720" rIns="45720" tIns="18288" bIns="18288" anchor="t">
            <a:spAutoFit/>
          </a:bodyPr>
          <a:lstStyle/>
          <a:p>
            <a:pPr algn="l">
              <a:lnSpc>
                <a:spcPct val="110000"/>
              </a:lnSpc>
            </a:pPr>
            <a:r>
              <a:rPr sz="5400" b="1">
                <a:solidFill>
                  <a:srgbClr val="1F4A2C"/>
                </a:solidFill>
                <a:latin typeface="Arial"/>
              </a:rPr>
              <a:t>99%</a:t>
            </a:r>
          </a:p>
        </p:txBody>
      </p:sp>
      <p:sp>
        <p:nvSpPr>
          <p:cNvPr id="17" name="TextBox 16"/>
          <p:cNvSpPr txBox="1"/>
          <p:nvPr/>
        </p:nvSpPr>
        <p:spPr>
          <a:xfrm>
            <a:off x="8412480" y="3063240"/>
            <a:ext cx="3108960" cy="1280160"/>
          </a:xfrm>
          <a:prstGeom prst="rect">
            <a:avLst/>
          </a:prstGeom>
          <a:noFill/>
        </p:spPr>
        <p:txBody>
          <a:bodyPr wrap="square" lIns="45720" rIns="45720" tIns="18288" bIns="18288" anchor="t">
            <a:spAutoFit/>
          </a:bodyPr>
          <a:lstStyle/>
          <a:p>
            <a:pPr algn="l">
              <a:lnSpc>
                <a:spcPct val="110000"/>
              </a:lnSpc>
            </a:pPr>
            <a:r>
              <a:rPr sz="1800" b="0">
                <a:solidFill>
                  <a:srgbClr val="262A24"/>
                </a:solidFill>
                <a:latin typeface="Arial"/>
              </a:rPr>
              <a:t>адамзат ДДСҰ нормасынан лас ауамен тыныс алады</a:t>
            </a:r>
          </a:p>
        </p:txBody>
      </p:sp>
      <p:sp>
        <p:nvSpPr>
          <p:cNvPr id="18" name="TextBox 17"/>
          <p:cNvSpPr txBox="1"/>
          <p:nvPr/>
        </p:nvSpPr>
        <p:spPr>
          <a:xfrm>
            <a:off x="8412480" y="4297680"/>
            <a:ext cx="3108960" cy="365760"/>
          </a:xfrm>
          <a:prstGeom prst="rect">
            <a:avLst/>
          </a:prstGeom>
          <a:noFill/>
        </p:spPr>
        <p:txBody>
          <a:bodyPr wrap="square" lIns="45720" rIns="45720" tIns="18288" bIns="18288" anchor="t">
            <a:spAutoFit/>
          </a:bodyPr>
          <a:lstStyle/>
          <a:p>
            <a:pPr algn="l">
              <a:lnSpc>
                <a:spcPct val="110000"/>
              </a:lnSpc>
            </a:pPr>
            <a:r>
              <a:rPr sz="1200" b="0">
                <a:solidFill>
                  <a:srgbClr val="6B675C"/>
                </a:solidFill>
                <a:latin typeface="Arial"/>
              </a:rPr>
              <a:t>ДДСҰ, 2022</a:t>
            </a:r>
          </a:p>
        </p:txBody>
      </p:sp>
      <p:sp>
        <p:nvSpPr>
          <p:cNvPr id="19" name="Rounded Rectangle 18"/>
          <p:cNvSpPr/>
          <p:nvPr/>
        </p:nvSpPr>
        <p:spPr>
          <a:xfrm>
            <a:off x="548640" y="5029200"/>
            <a:ext cx="11155680" cy="1143000"/>
          </a:xfrm>
          <a:prstGeom prst="roundRect">
            <a:avLst>
              <a:gd name="adj" fmla="val 8000"/>
            </a:avLst>
          </a:prstGeom>
          <a:solidFill>
            <a:srgbClr val="F6E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138928"/>
            <a:ext cx="10607040" cy="914400"/>
          </a:xfrm>
          <a:prstGeom prst="rect">
            <a:avLst/>
          </a:prstGeom>
          <a:noFill/>
        </p:spPr>
        <p:txBody>
          <a:bodyPr wrap="square" lIns="45720" rIns="45720" tIns="18288" bIns="18288" anchor="ctr">
            <a:spAutoFit/>
          </a:bodyPr>
          <a:lstStyle/>
          <a:p>
            <a:pPr algn="l">
              <a:lnSpc>
                <a:spcPct val="110000"/>
              </a:lnSpc>
            </a:pPr>
            <a:r>
              <a:rPr sz="1900" b="1">
                <a:solidFill>
                  <a:srgbClr val="1F4A2C"/>
                </a:solidFill>
                <a:latin typeface="Arial"/>
              </a:rPr>
              <a:t>Оқушы күніне 5–6 сағатын кабинетте өткізеді. </a:t>
            </a:r>
            <a:r>
              <a:rPr sz="1900" b="0">
                <a:solidFill>
                  <a:srgbClr val="262A24"/>
                </a:solidFill>
                <a:latin typeface="Arial"/>
              </a:rPr>
              <a:t>Сол ауаның сапасы — оның денсаулығы мен сабақтағы зейіні. Сондықтан біз экологияны мектептен, өз кабинетімізден бастадық.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ИДЕЯ</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Жасыл Қазақстан бір кабинеттен басталады</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3</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ounded Rectangle 6"/>
          <p:cNvSpPr/>
          <p:nvPr/>
        </p:nvSpPr>
        <p:spPr>
          <a:xfrm>
            <a:off x="548640" y="1783080"/>
            <a:ext cx="2606040" cy="160020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20240"/>
            <a:ext cx="2194560" cy="548640"/>
          </a:xfrm>
          <a:prstGeom prst="rect">
            <a:avLst/>
          </a:prstGeom>
          <a:noFill/>
        </p:spPr>
        <p:txBody>
          <a:bodyPr wrap="square" lIns="45720" rIns="45720" tIns="18288" bIns="18288" anchor="t">
            <a:spAutoFit/>
          </a:bodyPr>
          <a:lstStyle/>
          <a:p>
            <a:pPr algn="l">
              <a:lnSpc>
                <a:spcPct val="110000"/>
              </a:lnSpc>
            </a:pPr>
            <a:r>
              <a:rPr sz="2400" b="1">
                <a:solidFill>
                  <a:srgbClr val="1F4A2C"/>
                </a:solidFill>
                <a:latin typeface="Arial"/>
              </a:rPr>
              <a:t>1. Кабинет</a:t>
            </a:r>
          </a:p>
        </p:txBody>
      </p:sp>
      <p:sp>
        <p:nvSpPr>
          <p:cNvPr id="9" name="TextBox 8"/>
          <p:cNvSpPr txBox="1"/>
          <p:nvPr/>
        </p:nvSpPr>
        <p:spPr>
          <a:xfrm>
            <a:off x="777240" y="2514600"/>
            <a:ext cx="2194560" cy="822960"/>
          </a:xfrm>
          <a:prstGeom prst="rect">
            <a:avLst/>
          </a:prstGeom>
          <a:noFill/>
        </p:spPr>
        <p:txBody>
          <a:bodyPr wrap="square" lIns="45720" rIns="45720" tIns="18288" bIns="18288" anchor="t">
            <a:spAutoFit/>
          </a:bodyPr>
          <a:lstStyle/>
          <a:p>
            <a:pPr algn="l">
              <a:lnSpc>
                <a:spcPct val="110000"/>
              </a:lnSpc>
            </a:pPr>
            <a:r>
              <a:rPr sz="1600" b="0">
                <a:solidFill>
                  <a:srgbClr val="262A24"/>
                </a:solidFill>
                <a:latin typeface="Arial"/>
              </a:rPr>
              <a:t>ауаны өлшейміз, гүл өсіреміз</a:t>
            </a:r>
          </a:p>
        </p:txBody>
      </p:sp>
      <p:sp>
        <p:nvSpPr>
          <p:cNvPr id="10" name="Right Arrow 9"/>
          <p:cNvSpPr/>
          <p:nvPr/>
        </p:nvSpPr>
        <p:spPr>
          <a:xfrm>
            <a:off x="3182112" y="2423160"/>
            <a:ext cx="182880" cy="320040"/>
          </a:xfrm>
          <a:prstGeom prst="rightArrow">
            <a:avLst/>
          </a:prstGeom>
          <a:solidFill>
            <a:srgbClr val="4F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83280" y="1783080"/>
            <a:ext cx="2606040" cy="1600200"/>
          </a:xfrm>
          <a:prstGeom prst="roundRect">
            <a:avLst>
              <a:gd name="adj" fmla="val 8000"/>
            </a:avLst>
          </a:prstGeom>
          <a:solidFill>
            <a:srgbClr val="D3E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920240"/>
            <a:ext cx="2194560" cy="548640"/>
          </a:xfrm>
          <a:prstGeom prst="rect">
            <a:avLst/>
          </a:prstGeom>
          <a:noFill/>
        </p:spPr>
        <p:txBody>
          <a:bodyPr wrap="square" lIns="45720" rIns="45720" tIns="18288" bIns="18288" anchor="t">
            <a:spAutoFit/>
          </a:bodyPr>
          <a:lstStyle/>
          <a:p>
            <a:pPr algn="l">
              <a:lnSpc>
                <a:spcPct val="110000"/>
              </a:lnSpc>
            </a:pPr>
            <a:r>
              <a:rPr sz="2400" b="1">
                <a:solidFill>
                  <a:srgbClr val="1F4A2C"/>
                </a:solidFill>
                <a:latin typeface="Arial"/>
              </a:rPr>
              <a:t>2. Мектеп</a:t>
            </a:r>
          </a:p>
        </p:txBody>
      </p:sp>
      <p:sp>
        <p:nvSpPr>
          <p:cNvPr id="13" name="TextBox 12"/>
          <p:cNvSpPr txBox="1"/>
          <p:nvPr/>
        </p:nvSpPr>
        <p:spPr>
          <a:xfrm>
            <a:off x="3611880" y="2514600"/>
            <a:ext cx="2194560" cy="822960"/>
          </a:xfrm>
          <a:prstGeom prst="rect">
            <a:avLst/>
          </a:prstGeom>
          <a:noFill/>
        </p:spPr>
        <p:txBody>
          <a:bodyPr wrap="square" lIns="45720" rIns="45720" tIns="18288" bIns="18288" anchor="t">
            <a:spAutoFit/>
          </a:bodyPr>
          <a:lstStyle/>
          <a:p>
            <a:pPr algn="l">
              <a:lnSpc>
                <a:spcPct val="110000"/>
              </a:lnSpc>
            </a:pPr>
            <a:r>
              <a:rPr sz="1600" b="0">
                <a:solidFill>
                  <a:srgbClr val="262A24"/>
                </a:solidFill>
                <a:latin typeface="Arial"/>
              </a:rPr>
              <a:t>кабинеттерді салыстырамыз, рейтинг жасаймыз</a:t>
            </a:r>
          </a:p>
        </p:txBody>
      </p:sp>
      <p:sp>
        <p:nvSpPr>
          <p:cNvPr id="14" name="Right Arrow 13"/>
          <p:cNvSpPr/>
          <p:nvPr/>
        </p:nvSpPr>
        <p:spPr>
          <a:xfrm>
            <a:off x="6016752" y="2423160"/>
            <a:ext cx="182880" cy="320040"/>
          </a:xfrm>
          <a:prstGeom prst="rightArrow">
            <a:avLst/>
          </a:prstGeom>
          <a:solidFill>
            <a:srgbClr val="4F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783080"/>
            <a:ext cx="2606040" cy="1600200"/>
          </a:xfrm>
          <a:prstGeom prst="roundRect">
            <a:avLst>
              <a:gd name="adj" fmla="val 8000"/>
            </a:avLst>
          </a:prstGeom>
          <a:solidFill>
            <a:srgbClr val="B5D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920240"/>
            <a:ext cx="2194560" cy="548640"/>
          </a:xfrm>
          <a:prstGeom prst="rect">
            <a:avLst/>
          </a:prstGeom>
          <a:noFill/>
        </p:spPr>
        <p:txBody>
          <a:bodyPr wrap="square" lIns="45720" rIns="45720" tIns="18288" bIns="18288" anchor="t">
            <a:spAutoFit/>
          </a:bodyPr>
          <a:lstStyle/>
          <a:p>
            <a:pPr algn="l">
              <a:lnSpc>
                <a:spcPct val="110000"/>
              </a:lnSpc>
            </a:pPr>
            <a:r>
              <a:rPr sz="2400" b="1">
                <a:solidFill>
                  <a:srgbClr val="1F4A2C"/>
                </a:solidFill>
                <a:latin typeface="Arial"/>
              </a:rPr>
              <a:t>3. Облыс</a:t>
            </a:r>
          </a:p>
        </p:txBody>
      </p:sp>
      <p:sp>
        <p:nvSpPr>
          <p:cNvPr id="17" name="TextBox 16"/>
          <p:cNvSpPr txBox="1"/>
          <p:nvPr/>
        </p:nvSpPr>
        <p:spPr>
          <a:xfrm>
            <a:off x="6446520" y="2514600"/>
            <a:ext cx="2194560" cy="822960"/>
          </a:xfrm>
          <a:prstGeom prst="rect">
            <a:avLst/>
          </a:prstGeom>
          <a:noFill/>
        </p:spPr>
        <p:txBody>
          <a:bodyPr wrap="square" lIns="45720" rIns="45720" tIns="18288" bIns="18288" anchor="t">
            <a:spAutoFit/>
          </a:bodyPr>
          <a:lstStyle/>
          <a:p>
            <a:pPr algn="l">
              <a:lnSpc>
                <a:spcPct val="110000"/>
              </a:lnSpc>
            </a:pPr>
            <a:r>
              <a:rPr sz="1600" b="0">
                <a:solidFill>
                  <a:srgbClr val="262A24"/>
                </a:solidFill>
                <a:latin typeface="Arial"/>
              </a:rPr>
              <a:t>Қызылорда топырағын зерттейміз</a:t>
            </a:r>
          </a:p>
        </p:txBody>
      </p:sp>
      <p:sp>
        <p:nvSpPr>
          <p:cNvPr id="18" name="Right Arrow 17"/>
          <p:cNvSpPr/>
          <p:nvPr/>
        </p:nvSpPr>
        <p:spPr>
          <a:xfrm>
            <a:off x="8851392" y="2423160"/>
            <a:ext cx="182880" cy="320040"/>
          </a:xfrm>
          <a:prstGeom prst="rightArrow">
            <a:avLst/>
          </a:prstGeom>
          <a:solidFill>
            <a:srgbClr val="4F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52560" y="1783080"/>
            <a:ext cx="2606040" cy="1600200"/>
          </a:xfrm>
          <a:prstGeom prst="roundRect">
            <a:avLst>
              <a:gd name="adj" fmla="val 8000"/>
            </a:avLst>
          </a:prstGeom>
          <a:solidFill>
            <a:srgbClr val="1F4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0" y="1920240"/>
            <a:ext cx="2194560" cy="548640"/>
          </a:xfrm>
          <a:prstGeom prst="rect">
            <a:avLst/>
          </a:prstGeom>
          <a:noFill/>
        </p:spPr>
        <p:txBody>
          <a:bodyPr wrap="square" lIns="45720" rIns="45720" tIns="18288" bIns="18288" anchor="t">
            <a:spAutoFit/>
          </a:bodyPr>
          <a:lstStyle/>
          <a:p>
            <a:pPr algn="l">
              <a:lnSpc>
                <a:spcPct val="110000"/>
              </a:lnSpc>
            </a:pPr>
            <a:r>
              <a:rPr sz="2400" b="1">
                <a:solidFill>
                  <a:srgbClr val="FFFFFF"/>
                </a:solidFill>
                <a:latin typeface="Arial"/>
              </a:rPr>
              <a:t>4. Қазақстан</a:t>
            </a:r>
          </a:p>
        </p:txBody>
      </p:sp>
      <p:sp>
        <p:nvSpPr>
          <p:cNvPr id="21" name="TextBox 20"/>
          <p:cNvSpPr txBox="1"/>
          <p:nvPr/>
        </p:nvSpPr>
        <p:spPr>
          <a:xfrm>
            <a:off x="9281160" y="2514600"/>
            <a:ext cx="2194560" cy="822960"/>
          </a:xfrm>
          <a:prstGeom prst="rect">
            <a:avLst/>
          </a:prstGeom>
          <a:noFill/>
        </p:spPr>
        <p:txBody>
          <a:bodyPr wrap="square" lIns="45720" rIns="45720" tIns="18288" bIns="18288" anchor="t">
            <a:spAutoFit/>
          </a:bodyPr>
          <a:lstStyle/>
          <a:p>
            <a:pPr algn="l">
              <a:lnSpc>
                <a:spcPct val="110000"/>
              </a:lnSpc>
            </a:pPr>
            <a:r>
              <a:rPr sz="1600" b="0">
                <a:solidFill>
                  <a:srgbClr val="FFFFFF"/>
                </a:solidFill>
                <a:latin typeface="Arial"/>
              </a:rPr>
              <a:t>тәжірибені басқа мектептерге таратамыз</a:t>
            </a:r>
          </a:p>
        </p:txBody>
      </p:sp>
      <p:pic>
        <p:nvPicPr>
          <p:cNvPr id="22" name="Picture 21" descr="garden.jpg"/>
          <p:cNvPicPr>
            <a:picLocks noChangeAspect="1"/>
          </p:cNvPicPr>
          <p:nvPr/>
        </p:nvPicPr>
        <p:blipFill>
          <a:blip r:embed="rId2"/>
          <a:srcRect t="10769" b="10769"/>
          <a:stretch>
            <a:fillRect/>
          </a:stretch>
        </p:blipFill>
        <p:spPr>
          <a:xfrm>
            <a:off x="548640" y="3703320"/>
            <a:ext cx="5120640" cy="2514600"/>
          </a:xfrm>
          <a:prstGeom prst="rect">
            <a:avLst/>
          </a:prstGeom>
        </p:spPr>
      </p:pic>
      <p:sp>
        <p:nvSpPr>
          <p:cNvPr id="23" name="TextBox 22"/>
          <p:cNvSpPr txBox="1"/>
          <p:nvPr/>
        </p:nvSpPr>
        <p:spPr>
          <a:xfrm>
            <a:off x="6035040" y="3703320"/>
            <a:ext cx="5669280" cy="2560320"/>
          </a:xfrm>
          <a:prstGeom prst="rect">
            <a:avLst/>
          </a:prstGeom>
          <a:noFill/>
        </p:spPr>
        <p:txBody>
          <a:bodyPr wrap="square" lIns="45720" rIns="45720" tIns="18288" bIns="18288" anchor="t">
            <a:spAutoFit/>
          </a:bodyPr>
          <a:lstStyle/>
          <a:p>
            <a:pPr algn="l">
              <a:lnSpc>
                <a:spcPct val="112000"/>
              </a:lnSpc>
            </a:pPr>
            <a:r>
              <a:rPr sz="1400" b="0">
                <a:solidFill>
                  <a:srgbClr val="4F8A3A"/>
                </a:solidFill>
                <a:latin typeface="Arial"/>
              </a:rPr>
              <a:t>● </a:t>
            </a:r>
            <a:r>
              <a:rPr sz="1800" b="1">
                <a:solidFill>
                  <a:srgbClr val="1F4A2C"/>
                </a:solidFill>
                <a:latin typeface="Arial"/>
              </a:rPr>
              <a:t>Оқушы зерттеуші болады:</a:t>
            </a:r>
            <a:r>
              <a:rPr sz="1800" b="0">
                <a:solidFill>
                  <a:srgbClr val="262A24"/>
                </a:solidFill>
                <a:latin typeface="Arial"/>
              </a:rPr>
              <a:t> өлшейді, есептейді, салыстырады.</a:t>
            </a:r>
          </a:p>
          <a:p>
            <a:pPr algn="l">
              <a:lnSpc>
                <a:spcPct val="112000"/>
              </a:lnSpc>
              <a:spcBef>
                <a:spcPts val="800"/>
              </a:spcBef>
            </a:pPr>
            <a:r>
              <a:rPr sz="1400" b="0">
                <a:solidFill>
                  <a:srgbClr val="4F8A3A"/>
                </a:solidFill>
                <a:latin typeface="Arial"/>
              </a:rPr>
              <a:t>● </a:t>
            </a:r>
            <a:r>
              <a:rPr sz="1800" b="1">
                <a:solidFill>
                  <a:srgbClr val="1F4A2C"/>
                </a:solidFill>
                <a:latin typeface="Arial"/>
              </a:rPr>
              <a:t>Биология мен химия бірге:</a:t>
            </a:r>
            <a:r>
              <a:rPr sz="1800" b="0">
                <a:solidFill>
                  <a:srgbClr val="262A24"/>
                </a:solidFill>
                <a:latin typeface="Arial"/>
              </a:rPr>
              <a:t> ауа, топырақ, өсімдік, тұз.</a:t>
            </a:r>
          </a:p>
          <a:p>
            <a:pPr algn="l">
              <a:lnSpc>
                <a:spcPct val="112000"/>
              </a:lnSpc>
              <a:spcBef>
                <a:spcPts val="800"/>
              </a:spcBef>
            </a:pPr>
            <a:r>
              <a:rPr sz="1400" b="0">
                <a:solidFill>
                  <a:srgbClr val="4F8A3A"/>
                </a:solidFill>
                <a:latin typeface="Arial"/>
              </a:rPr>
              <a:t>● </a:t>
            </a:r>
            <a:r>
              <a:rPr sz="1800" b="1">
                <a:solidFill>
                  <a:srgbClr val="1F4A2C"/>
                </a:solidFill>
                <a:latin typeface="Arial"/>
              </a:rPr>
              <a:t>Математика мен оқу сауаттылығы:</a:t>
            </a:r>
            <a:r>
              <a:rPr sz="1800" b="0">
                <a:solidFill>
                  <a:srgbClr val="262A24"/>
                </a:solidFill>
                <a:latin typeface="Arial"/>
              </a:rPr>
              <a:t> график, пайыз, дереккөз.</a:t>
            </a:r>
          </a:p>
          <a:p>
            <a:pPr algn="l">
              <a:lnSpc>
                <a:spcPct val="112000"/>
              </a:lnSpc>
              <a:spcBef>
                <a:spcPts val="800"/>
              </a:spcBef>
            </a:pPr>
            <a:r>
              <a:rPr sz="1400" b="0">
                <a:solidFill>
                  <a:srgbClr val="4F8A3A"/>
                </a:solidFill>
                <a:latin typeface="Arial"/>
              </a:rPr>
              <a:t>● </a:t>
            </a:r>
            <a:r>
              <a:rPr sz="1800" b="1">
                <a:solidFill>
                  <a:srgbClr val="1F4A2C"/>
                </a:solidFill>
                <a:latin typeface="Arial"/>
              </a:rPr>
              <a:t>ЖИ көмекші:</a:t>
            </a:r>
            <a:r>
              <a:rPr sz="1800" b="0">
                <a:solidFill>
                  <a:srgbClr val="262A24"/>
                </a:solidFill>
                <a:latin typeface="Arial"/>
              </a:rPr>
              <a:t> деректі талдауға көмектеседі, шешімді оқушы қабылдайды.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ПЛАТФОРМА</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«Жасыл Қазақстан» интерактивті ортасы</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4</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ectangle 6"/>
          <p:cNvSpPr/>
          <p:nvPr/>
        </p:nvSpPr>
        <p:spPr>
          <a:xfrm>
            <a:off x="510540" y="1562100"/>
            <a:ext cx="7025640" cy="441960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ome-soil.jpg"/>
          <p:cNvPicPr>
            <a:picLocks noChangeAspect="1"/>
          </p:cNvPicPr>
          <p:nvPr/>
        </p:nvPicPr>
        <p:blipFill>
          <a:blip r:embed="rId2"/>
          <a:stretch>
            <a:fillRect/>
          </a:stretch>
        </p:blipFill>
        <p:spPr>
          <a:xfrm>
            <a:off x="548640" y="1600200"/>
            <a:ext cx="6949440" cy="4343400"/>
          </a:xfrm>
          <a:prstGeom prst="rect">
            <a:avLst/>
          </a:prstGeom>
        </p:spPr>
      </p:pic>
      <p:sp>
        <p:nvSpPr>
          <p:cNvPr id="9" name="TextBox 8"/>
          <p:cNvSpPr txBox="1"/>
          <p:nvPr/>
        </p:nvSpPr>
        <p:spPr>
          <a:xfrm>
            <a:off x="8183879" y="1600200"/>
            <a:ext cx="3566160" cy="4480560"/>
          </a:xfrm>
          <a:prstGeom prst="rect">
            <a:avLst/>
          </a:prstGeom>
          <a:noFill/>
        </p:spPr>
        <p:txBody>
          <a:bodyPr wrap="square" lIns="45720" rIns="45720" tIns="18288" bIns="18288" anchor="t">
            <a:spAutoFit/>
          </a:bodyPr>
          <a:lstStyle/>
          <a:p>
            <a:pPr algn="l">
              <a:lnSpc>
                <a:spcPct val="112000"/>
              </a:lnSpc>
            </a:pPr>
            <a:r>
              <a:rPr sz="1200" b="0">
                <a:solidFill>
                  <a:srgbClr val="4F8A3A"/>
                </a:solidFill>
                <a:latin typeface="Arial"/>
              </a:rPr>
              <a:t>● </a:t>
            </a:r>
            <a:r>
              <a:rPr sz="1600" b="1">
                <a:solidFill>
                  <a:srgbClr val="1F4A2C"/>
                </a:solidFill>
                <a:latin typeface="Arial"/>
              </a:rPr>
              <a:t>Экокарта:</a:t>
            </a:r>
            <a:r>
              <a:rPr sz="1600" b="0">
                <a:solidFill>
                  <a:srgbClr val="262A24"/>
                </a:solidFill>
                <a:latin typeface="Arial"/>
              </a:rPr>
              <a:t> облыстар, топырақ, су, өсімдік</a:t>
            </a:r>
          </a:p>
          <a:p>
            <a:pPr algn="l">
              <a:lnSpc>
                <a:spcPct val="112000"/>
              </a:lnSpc>
              <a:spcBef>
                <a:spcPts val="900"/>
              </a:spcBef>
            </a:pPr>
            <a:r>
              <a:rPr sz="1200" b="0">
                <a:solidFill>
                  <a:srgbClr val="4F8A3A"/>
                </a:solidFill>
                <a:latin typeface="Arial"/>
              </a:rPr>
              <a:t>● </a:t>
            </a:r>
            <a:r>
              <a:rPr sz="1600" b="1">
                <a:solidFill>
                  <a:srgbClr val="1F4A2C"/>
                </a:solidFill>
                <a:latin typeface="Arial"/>
              </a:rPr>
              <a:t>Менің бағым:</a:t>
            </a:r>
            <a:r>
              <a:rPr sz="1600" b="0">
                <a:solidFill>
                  <a:srgbClr val="262A24"/>
                </a:solidFill>
                <a:latin typeface="Arial"/>
              </a:rPr>
              <a:t> мектеп картасы, кабинеттер, гүл күнделігі</a:t>
            </a:r>
          </a:p>
          <a:p>
            <a:pPr algn="l">
              <a:lnSpc>
                <a:spcPct val="112000"/>
              </a:lnSpc>
              <a:spcBef>
                <a:spcPts val="900"/>
              </a:spcBef>
            </a:pPr>
            <a:r>
              <a:rPr sz="1200" b="0">
                <a:solidFill>
                  <a:srgbClr val="4F8A3A"/>
                </a:solidFill>
                <a:latin typeface="Arial"/>
              </a:rPr>
              <a:t>● </a:t>
            </a:r>
            <a:r>
              <a:rPr sz="1600" b="1">
                <a:solidFill>
                  <a:srgbClr val="1F4A2C"/>
                </a:solidFill>
                <a:latin typeface="Arial"/>
              </a:rPr>
              <a:t>Зертхана:</a:t>
            </a:r>
            <a:r>
              <a:rPr sz="1600" b="0">
                <a:solidFill>
                  <a:srgbClr val="262A24"/>
                </a:solidFill>
                <a:latin typeface="Arial"/>
              </a:rPr>
              <a:t> нұсқаулықтар, тәжірибелер, әлемдік зерттеулер</a:t>
            </a:r>
          </a:p>
          <a:p>
            <a:pPr algn="l">
              <a:lnSpc>
                <a:spcPct val="112000"/>
              </a:lnSpc>
              <a:spcBef>
                <a:spcPts val="900"/>
              </a:spcBef>
            </a:pPr>
            <a:r>
              <a:rPr sz="1200" b="0">
                <a:solidFill>
                  <a:srgbClr val="4F8A3A"/>
                </a:solidFill>
                <a:latin typeface="Arial"/>
              </a:rPr>
              <a:t>● </a:t>
            </a:r>
            <a:r>
              <a:rPr sz="1600" b="1">
                <a:solidFill>
                  <a:srgbClr val="1F4A2C"/>
                </a:solidFill>
                <a:latin typeface="Arial"/>
              </a:rPr>
              <a:t>Мектептер:</a:t>
            </a:r>
            <a:r>
              <a:rPr sz="1600" b="0">
                <a:solidFill>
                  <a:srgbClr val="262A24"/>
                </a:solidFill>
                <a:latin typeface="Arial"/>
              </a:rPr>
              <a:t> экопаспорт, кабинет рейтингі</a:t>
            </a:r>
          </a:p>
          <a:p>
            <a:pPr algn="l">
              <a:lnSpc>
                <a:spcPct val="112000"/>
              </a:lnSpc>
              <a:spcBef>
                <a:spcPts val="900"/>
              </a:spcBef>
            </a:pPr>
            <a:r>
              <a:rPr sz="1200" b="0">
                <a:solidFill>
                  <a:srgbClr val="4F8A3A"/>
                </a:solidFill>
                <a:latin typeface="Arial"/>
              </a:rPr>
              <a:t>● </a:t>
            </a:r>
            <a:r>
              <a:rPr sz="1600" b="1">
                <a:solidFill>
                  <a:srgbClr val="1F4A2C"/>
                </a:solidFill>
                <a:latin typeface="Arial"/>
              </a:rPr>
              <a:t>Сауалнама және «Өз бөлмеңді тексер»:</a:t>
            </a:r>
            <a:r>
              <a:rPr sz="1600" b="0">
                <a:solidFill>
                  <a:srgbClr val="262A24"/>
                </a:solidFill>
                <a:latin typeface="Arial"/>
              </a:rPr>
              <a:t> QR арқылы</a:t>
            </a:r>
          </a:p>
          <a:p>
            <a:pPr algn="l">
              <a:lnSpc>
                <a:spcPct val="112000"/>
              </a:lnSpc>
              <a:spcBef>
                <a:spcPts val="900"/>
              </a:spcBef>
            </a:pPr>
            <a:r>
              <a:rPr sz="1200" b="0">
                <a:solidFill>
                  <a:srgbClr val="4F8A3A"/>
                </a:solidFill>
                <a:latin typeface="Arial"/>
              </a:rPr>
              <a:t>● </a:t>
            </a:r>
            <a:r>
              <a:rPr sz="1600" b="1">
                <a:solidFill>
                  <a:srgbClr val="1F4A2C"/>
                </a:solidFill>
                <a:latin typeface="Arial"/>
              </a:rPr>
              <a:t>ЖИ экокеңесші:</a:t>
            </a:r>
            <a:r>
              <a:rPr sz="1600" b="0">
                <a:solidFill>
                  <a:srgbClr val="262A24"/>
                </a:solidFill>
                <a:latin typeface="Arial"/>
              </a:rPr>
              <a:t> деректерге сүйенген кеңес</a:t>
            </a:r>
          </a:p>
        </p:txBody>
      </p:sp>
      <p:sp>
        <p:nvSpPr>
          <p:cNvPr id="10" name="TextBox 9"/>
          <p:cNvSpPr txBox="1"/>
          <p:nvPr/>
        </p:nvSpPr>
        <p:spPr>
          <a:xfrm>
            <a:off x="548640" y="5989320"/>
            <a:ext cx="7315200" cy="32004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zhasyl-kazakhstan-bfkx.vercel.app · компьютерде де, телефонда да ашылады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ЭКОКАРТА · ҚЫЗЫЛОРДА ТОПЫРАҒЫ</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Туған өлке топырағы: Аралдан Қызылқұмға дейін</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5</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ectangle 6"/>
          <p:cNvSpPr/>
          <p:nvPr/>
        </p:nvSpPr>
        <p:spPr>
          <a:xfrm>
            <a:off x="1154237" y="1562100"/>
            <a:ext cx="5555366" cy="469392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yraq.jpg"/>
          <p:cNvPicPr>
            <a:picLocks noChangeAspect="1"/>
          </p:cNvPicPr>
          <p:nvPr/>
        </p:nvPicPr>
        <p:blipFill>
          <a:blip r:embed="rId2"/>
          <a:stretch>
            <a:fillRect/>
          </a:stretch>
        </p:blipFill>
        <p:spPr>
          <a:xfrm>
            <a:off x="1192337" y="1600200"/>
            <a:ext cx="5479166" cy="4617720"/>
          </a:xfrm>
          <a:prstGeom prst="rect">
            <a:avLst/>
          </a:prstGeom>
        </p:spPr>
      </p:pic>
      <p:sp>
        <p:nvSpPr>
          <p:cNvPr id="9" name="Rectangle 8"/>
          <p:cNvSpPr/>
          <p:nvPr/>
        </p:nvSpPr>
        <p:spPr>
          <a:xfrm>
            <a:off x="7551420" y="1562100"/>
            <a:ext cx="2179320" cy="217932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utaway-saline.jpg"/>
          <p:cNvPicPr>
            <a:picLocks noChangeAspect="1"/>
          </p:cNvPicPr>
          <p:nvPr/>
        </p:nvPicPr>
        <p:blipFill>
          <a:blip r:embed="rId3"/>
          <a:stretch>
            <a:fillRect/>
          </a:stretch>
        </p:blipFill>
        <p:spPr>
          <a:xfrm>
            <a:off x="7589520" y="1600200"/>
            <a:ext cx="2103120" cy="2103120"/>
          </a:xfrm>
          <a:prstGeom prst="rect">
            <a:avLst/>
          </a:prstGeom>
        </p:spPr>
      </p:pic>
      <p:sp>
        <p:nvSpPr>
          <p:cNvPr id="11" name="TextBox 10"/>
          <p:cNvSpPr txBox="1"/>
          <p:nvPr/>
        </p:nvSpPr>
        <p:spPr>
          <a:xfrm>
            <a:off x="9829800" y="1600200"/>
            <a:ext cx="1920240" cy="2103120"/>
          </a:xfrm>
          <a:prstGeom prst="rect">
            <a:avLst/>
          </a:prstGeom>
          <a:noFill/>
        </p:spPr>
        <p:txBody>
          <a:bodyPr wrap="square" lIns="45720" rIns="45720" tIns="18288" bIns="18288" anchor="t">
            <a:spAutoFit/>
          </a:bodyPr>
          <a:lstStyle/>
          <a:p>
            <a:pPr algn="l">
              <a:lnSpc>
                <a:spcPct val="110000"/>
              </a:lnSpc>
            </a:pPr>
            <a:r>
              <a:rPr sz="1600" b="1">
                <a:solidFill>
                  <a:srgbClr val="1F4A2C"/>
                </a:solidFill>
                <a:latin typeface="Arial"/>
              </a:rPr>
              <a:t>Сортаң топырақ</a:t>
            </a:r>
          </a:p>
          <a:p>
            <a:pPr algn="l">
              <a:lnSpc>
                <a:spcPct val="110000"/>
              </a:lnSpc>
            </a:pPr>
            <a:r>
              <a:rPr sz="1400" b="0">
                <a:solidFill>
                  <a:srgbClr val="262A24"/>
                </a:solidFill>
                <a:latin typeface="Arial"/>
              </a:rPr>
              <a:t>беті ақ тұз қабығы, ортасында тұз жиналған қабат</a:t>
            </a:r>
          </a:p>
        </p:txBody>
      </p:sp>
      <p:sp>
        <p:nvSpPr>
          <p:cNvPr id="12" name="TextBox 11"/>
          <p:cNvSpPr txBox="1"/>
          <p:nvPr/>
        </p:nvSpPr>
        <p:spPr>
          <a:xfrm>
            <a:off x="7589520" y="3931920"/>
            <a:ext cx="4206240" cy="2377440"/>
          </a:xfrm>
          <a:prstGeom prst="rect">
            <a:avLst/>
          </a:prstGeom>
          <a:noFill/>
        </p:spPr>
        <p:txBody>
          <a:bodyPr wrap="square" lIns="45720" rIns="45720" tIns="18288" bIns="18288" anchor="t">
            <a:spAutoFit/>
          </a:bodyPr>
          <a:lstStyle/>
          <a:p>
            <a:pPr algn="l">
              <a:lnSpc>
                <a:spcPct val="112000"/>
              </a:lnSpc>
            </a:pPr>
            <a:r>
              <a:rPr sz="1200" b="0">
                <a:solidFill>
                  <a:srgbClr val="4F8A3A"/>
                </a:solidFill>
                <a:latin typeface="Arial"/>
              </a:rPr>
              <a:t>● </a:t>
            </a:r>
            <a:r>
              <a:rPr sz="1600" b="1">
                <a:solidFill>
                  <a:srgbClr val="1F4A2C"/>
                </a:solidFill>
                <a:latin typeface="Arial"/>
              </a:rPr>
              <a:t>7 нүкте:</a:t>
            </a:r>
            <a:r>
              <a:rPr sz="1600" b="0">
                <a:solidFill>
                  <a:srgbClr val="262A24"/>
                </a:solidFill>
                <a:latin typeface="Arial"/>
              </a:rPr>
              <a:t> жерді таңдасаң, кесінді, тұздылық, pH өзгереді.</a:t>
            </a:r>
          </a:p>
          <a:p>
            <a:pPr algn="l">
              <a:lnSpc>
                <a:spcPct val="112000"/>
              </a:lnSpc>
              <a:spcBef>
                <a:spcPts val="600"/>
              </a:spcBef>
            </a:pPr>
            <a:r>
              <a:rPr sz="1200" b="0">
                <a:solidFill>
                  <a:srgbClr val="4F8A3A"/>
                </a:solidFill>
                <a:latin typeface="Arial"/>
              </a:rPr>
              <a:t>● </a:t>
            </a:r>
            <a:r>
              <a:rPr sz="1600" b="1">
                <a:solidFill>
                  <a:srgbClr val="1F4A2C"/>
                </a:solidFill>
                <a:latin typeface="Arial"/>
              </a:rPr>
              <a:t>Арал табаны —</a:t>
            </a:r>
            <a:r>
              <a:rPr sz="1600" b="0">
                <a:solidFill>
                  <a:srgbClr val="262A24"/>
                </a:solidFill>
                <a:latin typeface="Arial"/>
              </a:rPr>
              <a:t> сор, тұзды шаң.</a:t>
            </a:r>
          </a:p>
          <a:p>
            <a:pPr algn="l">
              <a:lnSpc>
                <a:spcPct val="112000"/>
              </a:lnSpc>
              <a:spcBef>
                <a:spcPts val="600"/>
              </a:spcBef>
            </a:pPr>
            <a:r>
              <a:rPr sz="1200" b="0">
                <a:solidFill>
                  <a:srgbClr val="4F8A3A"/>
                </a:solidFill>
                <a:latin typeface="Arial"/>
              </a:rPr>
              <a:t>● </a:t>
            </a:r>
            <a:r>
              <a:rPr sz="1600" b="1">
                <a:solidFill>
                  <a:srgbClr val="1F4A2C"/>
                </a:solidFill>
                <a:latin typeface="Arial"/>
              </a:rPr>
              <a:t>Күріш алқабы —</a:t>
            </a:r>
            <a:r>
              <a:rPr sz="1600" b="0">
                <a:solidFill>
                  <a:srgbClr val="262A24"/>
                </a:solidFill>
                <a:latin typeface="Arial"/>
              </a:rPr>
              <a:t> суарудан болған қайталама тұздану.</a:t>
            </a:r>
          </a:p>
          <a:p>
            <a:pPr algn="l">
              <a:lnSpc>
                <a:spcPct val="112000"/>
              </a:lnSpc>
              <a:spcBef>
                <a:spcPts val="600"/>
              </a:spcBef>
            </a:pPr>
            <a:r>
              <a:rPr sz="1200" b="0">
                <a:solidFill>
                  <a:srgbClr val="4F8A3A"/>
                </a:solidFill>
                <a:latin typeface="Arial"/>
              </a:rPr>
              <a:t>● </a:t>
            </a:r>
            <a:r>
              <a:rPr sz="1600" b="1">
                <a:solidFill>
                  <a:srgbClr val="1F4A2C"/>
                </a:solidFill>
                <a:latin typeface="Arial"/>
              </a:rPr>
              <a:t>Оқушы өз үлгісінің</a:t>
            </a:r>
            <a:r>
              <a:rPr sz="1600" b="0">
                <a:solidFill>
                  <a:srgbClr val="262A24"/>
                </a:solidFill>
                <a:latin typeface="Arial"/>
              </a:rPr>
              <a:t> ЭӨ-сін өлшеп, салыстырады.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МЕНІҢ БАҒЫМ</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Мектеп картасы және кабинеттер</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6</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ectangle 6"/>
          <p:cNvSpPr/>
          <p:nvPr/>
        </p:nvSpPr>
        <p:spPr>
          <a:xfrm>
            <a:off x="510540" y="1562100"/>
            <a:ext cx="5452872" cy="455676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ap-school.jpg"/>
          <p:cNvPicPr>
            <a:picLocks noChangeAspect="1"/>
          </p:cNvPicPr>
          <p:nvPr/>
        </p:nvPicPr>
        <p:blipFill>
          <a:blip r:embed="rId2"/>
          <a:stretch>
            <a:fillRect/>
          </a:stretch>
        </p:blipFill>
        <p:spPr>
          <a:xfrm>
            <a:off x="548640" y="1600200"/>
            <a:ext cx="5376672" cy="4480560"/>
          </a:xfrm>
          <a:prstGeom prst="rect">
            <a:avLst/>
          </a:prstGeom>
        </p:spPr>
      </p:pic>
      <p:sp>
        <p:nvSpPr>
          <p:cNvPr id="9" name="Rectangle 8"/>
          <p:cNvSpPr/>
          <p:nvPr/>
        </p:nvSpPr>
        <p:spPr>
          <a:xfrm>
            <a:off x="6545580" y="1606093"/>
            <a:ext cx="5196840" cy="3142894"/>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ooms-top.jpg"/>
          <p:cNvPicPr>
            <a:picLocks noChangeAspect="1"/>
          </p:cNvPicPr>
          <p:nvPr/>
        </p:nvPicPr>
        <p:blipFill>
          <a:blip r:embed="rId3"/>
          <a:stretch>
            <a:fillRect/>
          </a:stretch>
        </p:blipFill>
        <p:spPr>
          <a:xfrm>
            <a:off x="6583680" y="1644193"/>
            <a:ext cx="5120640" cy="3066694"/>
          </a:xfrm>
          <a:prstGeom prst="rect">
            <a:avLst/>
          </a:prstGeom>
        </p:spPr>
      </p:pic>
      <p:sp>
        <p:nvSpPr>
          <p:cNvPr id="11" name="TextBox 10"/>
          <p:cNvSpPr txBox="1"/>
          <p:nvPr/>
        </p:nvSpPr>
        <p:spPr>
          <a:xfrm>
            <a:off x="6583680" y="4892040"/>
            <a:ext cx="5120640" cy="1280160"/>
          </a:xfrm>
          <a:prstGeom prst="rect">
            <a:avLst/>
          </a:prstGeom>
          <a:noFill/>
        </p:spPr>
        <p:txBody>
          <a:bodyPr wrap="square" lIns="45720" rIns="45720" tIns="18288" bIns="18288" anchor="t">
            <a:spAutoFit/>
          </a:bodyPr>
          <a:lstStyle/>
          <a:p>
            <a:pPr algn="l">
              <a:lnSpc>
                <a:spcPct val="110000"/>
              </a:lnSpc>
            </a:pPr>
            <a:r>
              <a:rPr sz="1600" b="1">
                <a:solidFill>
                  <a:srgbClr val="1F4A2C"/>
                </a:solidFill>
                <a:latin typeface="Arial"/>
              </a:rPr>
              <a:t>4 кабинет зерттеледі: </a:t>
            </a:r>
            <a:r>
              <a:rPr sz="1600" b="0">
                <a:solidFill>
                  <a:srgbClr val="262A24"/>
                </a:solidFill>
                <a:latin typeface="Arial"/>
              </a:rPr>
              <a:t>биология №118, ағылшын тілі №214, физика №216 (гүлді) және математика №207 (гүлсіз, салыстыру үшін). Әр кабинеттің көлемі, терезе бағыты мен гүлдері енгізілген.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АУАНЫ ӨЛШЕУ</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Датчиксіз CO₂-ні қалай бағалаймыз?</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7</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ectangle 6"/>
          <p:cNvSpPr/>
          <p:nvPr/>
        </p:nvSpPr>
        <p:spPr>
          <a:xfrm>
            <a:off x="510540" y="1516380"/>
            <a:ext cx="3397762" cy="478536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2calc.jpg"/>
          <p:cNvPicPr>
            <a:picLocks noChangeAspect="1"/>
          </p:cNvPicPr>
          <p:nvPr/>
        </p:nvPicPr>
        <p:blipFill>
          <a:blip r:embed="rId2"/>
          <a:stretch>
            <a:fillRect/>
          </a:stretch>
        </p:blipFill>
        <p:spPr>
          <a:xfrm>
            <a:off x="548640" y="1554480"/>
            <a:ext cx="3321562" cy="4709160"/>
          </a:xfrm>
          <a:prstGeom prst="rect">
            <a:avLst/>
          </a:prstGeom>
        </p:spPr>
      </p:pic>
      <p:sp>
        <p:nvSpPr>
          <p:cNvPr id="9" name="TextBox 8"/>
          <p:cNvSpPr txBox="1"/>
          <p:nvPr/>
        </p:nvSpPr>
        <p:spPr>
          <a:xfrm>
            <a:off x="4937760" y="1600200"/>
            <a:ext cx="6766560" cy="3108960"/>
          </a:xfrm>
          <a:prstGeom prst="rect">
            <a:avLst/>
          </a:prstGeom>
          <a:noFill/>
        </p:spPr>
        <p:txBody>
          <a:bodyPr wrap="square" lIns="45720" rIns="45720" tIns="18288" bIns="18288" anchor="t">
            <a:spAutoFit/>
          </a:bodyPr>
          <a:lstStyle/>
          <a:p>
            <a:pPr algn="l">
              <a:lnSpc>
                <a:spcPct val="112000"/>
              </a:lnSpc>
            </a:pPr>
            <a:r>
              <a:rPr sz="1300" b="0">
                <a:solidFill>
                  <a:srgbClr val="4F8A3A"/>
                </a:solidFill>
                <a:latin typeface="Arial"/>
              </a:rPr>
              <a:t>● </a:t>
            </a:r>
            <a:r>
              <a:rPr sz="1700" b="1">
                <a:solidFill>
                  <a:srgbClr val="1F4A2C"/>
                </a:solidFill>
                <a:latin typeface="Arial"/>
              </a:rPr>
              <a:t>Термогигрометр</a:t>
            </a:r>
            <a:r>
              <a:rPr sz="1700" b="0">
                <a:solidFill>
                  <a:srgbClr val="262A24"/>
                </a:solidFill>
                <a:latin typeface="Arial"/>
              </a:rPr>
              <a:t> температура мен ылғалдылықты өлшейді.</a:t>
            </a:r>
          </a:p>
          <a:p>
            <a:pPr algn="l">
              <a:lnSpc>
                <a:spcPct val="112000"/>
              </a:lnSpc>
              <a:spcBef>
                <a:spcPts val="800"/>
              </a:spcBef>
            </a:pPr>
            <a:r>
              <a:rPr sz="1300" b="0">
                <a:solidFill>
                  <a:srgbClr val="4F8A3A"/>
                </a:solidFill>
                <a:latin typeface="Arial"/>
              </a:rPr>
              <a:t>● </a:t>
            </a:r>
            <a:r>
              <a:rPr sz="1700" b="1">
                <a:solidFill>
                  <a:srgbClr val="1F4A2C"/>
                </a:solidFill>
                <a:latin typeface="Arial"/>
              </a:rPr>
              <a:t>Оқушылар дем шығарғанда</a:t>
            </a:r>
            <a:r>
              <a:rPr sz="1700" b="0">
                <a:solidFill>
                  <a:srgbClr val="262A24"/>
                </a:solidFill>
                <a:latin typeface="Arial"/>
              </a:rPr>
              <a:t> ауаға CO₂ мен су буы бірге қосылады.</a:t>
            </a:r>
          </a:p>
          <a:p>
            <a:pPr algn="l">
              <a:lnSpc>
                <a:spcPct val="112000"/>
              </a:lnSpc>
              <a:spcBef>
                <a:spcPts val="800"/>
              </a:spcBef>
            </a:pPr>
            <a:r>
              <a:rPr sz="1300" b="0">
                <a:solidFill>
                  <a:srgbClr val="4F8A3A"/>
                </a:solidFill>
                <a:latin typeface="Arial"/>
              </a:rPr>
              <a:t>● </a:t>
            </a:r>
            <a:r>
              <a:rPr sz="1700" b="1">
                <a:solidFill>
                  <a:srgbClr val="1F4A2C"/>
                </a:solidFill>
                <a:latin typeface="Arial"/>
              </a:rPr>
              <a:t>Ылғалдылық қаншалықты өссе,</a:t>
            </a:r>
            <a:r>
              <a:rPr sz="1700" b="0">
                <a:solidFill>
                  <a:srgbClr val="262A24"/>
                </a:solidFill>
                <a:latin typeface="Arial"/>
              </a:rPr>
              <a:t> ауа соншалықты аз алмасқан. Осыдан CO₂ есептеледі.</a:t>
            </a:r>
          </a:p>
          <a:p>
            <a:pPr algn="l">
              <a:lnSpc>
                <a:spcPct val="112000"/>
              </a:lnSpc>
              <a:spcBef>
                <a:spcPts val="800"/>
              </a:spcBef>
            </a:pPr>
            <a:r>
              <a:rPr sz="1300" b="0">
                <a:solidFill>
                  <a:srgbClr val="4F8A3A"/>
                </a:solidFill>
                <a:latin typeface="Arial"/>
              </a:rPr>
              <a:t>● </a:t>
            </a:r>
            <a:r>
              <a:rPr sz="1700" b="1">
                <a:solidFill>
                  <a:srgbClr val="1F4A2C"/>
                </a:solidFill>
                <a:latin typeface="Arial"/>
              </a:rPr>
              <a:t>Сыртқы ауа райы</a:t>
            </a:r>
            <a:r>
              <a:rPr sz="1700" b="0">
                <a:solidFill>
                  <a:srgbClr val="262A24"/>
                </a:solidFill>
                <a:latin typeface="Arial"/>
              </a:rPr>
              <a:t> интернеттен автоматты алынады (Open-Meteo).</a:t>
            </a:r>
          </a:p>
        </p:txBody>
      </p:sp>
      <p:sp>
        <p:nvSpPr>
          <p:cNvPr id="10" name="Rounded Rectangle 9"/>
          <p:cNvSpPr/>
          <p:nvPr/>
        </p:nvSpPr>
        <p:spPr>
          <a:xfrm>
            <a:off x="4937760" y="4800600"/>
            <a:ext cx="6766560" cy="1417320"/>
          </a:xfrm>
          <a:prstGeom prst="roundRect">
            <a:avLst>
              <a:gd name="adj" fmla="val 8000"/>
            </a:avLst>
          </a:prstGeom>
          <a:solidFill>
            <a:srgbClr val="F6E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4892040"/>
            <a:ext cx="6309360" cy="1280160"/>
          </a:xfrm>
          <a:prstGeom prst="rect">
            <a:avLst/>
          </a:prstGeom>
          <a:noFill/>
        </p:spPr>
        <p:txBody>
          <a:bodyPr wrap="square" lIns="45720" rIns="45720" tIns="18288" bIns="18288" anchor="ctr">
            <a:spAutoFit/>
          </a:bodyPr>
          <a:lstStyle/>
          <a:p>
            <a:pPr algn="l">
              <a:lnSpc>
                <a:spcPct val="110000"/>
              </a:lnSpc>
            </a:pPr>
            <a:r>
              <a:rPr sz="1500" b="1">
                <a:solidFill>
                  <a:srgbClr val="1F4A2C"/>
                </a:solidFill>
                <a:latin typeface="Arial"/>
              </a:rPr>
              <a:t>Математика: </a:t>
            </a:r>
            <a:r>
              <a:rPr sz="1500" b="0">
                <a:solidFill>
                  <a:srgbClr val="262A24"/>
                </a:solidFill>
                <a:latin typeface="Arial"/>
              </a:rPr>
              <a:t>CO₂ = сыртқы CO₂ + (оқушы саны × бір оқушының CO₂-сі) ÷ (бөлме көлемі × ауа алмасу). </a:t>
            </a:r>
            <a:r>
              <a:rPr sz="1500" b="1">
                <a:solidFill>
                  <a:srgbClr val="D98A2F"/>
                </a:solidFill>
                <a:latin typeface="Arial"/>
              </a:rPr>
              <a:t>Бұл — өлшем емес, есептеу. Нақты датчик келесі кезеңде қосылады.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МЕКТЕПТЕР · ЭКОПАСПОРТ</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Кабинеттер рейтингі: «жасыл ұпай»</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8</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ectangle 6"/>
          <p:cNvSpPr/>
          <p:nvPr/>
        </p:nvSpPr>
        <p:spPr>
          <a:xfrm>
            <a:off x="510540" y="1516380"/>
            <a:ext cx="7299960" cy="5409742"/>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ating.jpg"/>
          <p:cNvPicPr>
            <a:picLocks noChangeAspect="1"/>
          </p:cNvPicPr>
          <p:nvPr/>
        </p:nvPicPr>
        <p:blipFill>
          <a:blip r:embed="rId2"/>
          <a:stretch>
            <a:fillRect/>
          </a:stretch>
        </p:blipFill>
        <p:spPr>
          <a:xfrm>
            <a:off x="548640" y="1554480"/>
            <a:ext cx="7223760" cy="5333542"/>
          </a:xfrm>
          <a:prstGeom prst="rect">
            <a:avLst/>
          </a:prstGeom>
        </p:spPr>
      </p:pic>
      <p:sp>
        <p:nvSpPr>
          <p:cNvPr id="9" name="TextBox 8"/>
          <p:cNvSpPr txBox="1"/>
          <p:nvPr/>
        </p:nvSpPr>
        <p:spPr>
          <a:xfrm>
            <a:off x="8138160" y="1554480"/>
            <a:ext cx="3657600" cy="457200"/>
          </a:xfrm>
          <a:prstGeom prst="rect">
            <a:avLst/>
          </a:prstGeom>
          <a:noFill/>
        </p:spPr>
        <p:txBody>
          <a:bodyPr wrap="square" lIns="45720" rIns="45720" tIns="18288" bIns="18288" anchor="t">
            <a:spAutoFit/>
          </a:bodyPr>
          <a:lstStyle/>
          <a:p>
            <a:pPr algn="l">
              <a:lnSpc>
                <a:spcPct val="110000"/>
              </a:lnSpc>
            </a:pPr>
            <a:r>
              <a:rPr sz="1600" b="1">
                <a:solidFill>
                  <a:srgbClr val="6B675C"/>
                </a:solidFill>
                <a:latin typeface="Arial"/>
              </a:rPr>
              <a:t>Жасыл ұпай (100-ден)</a:t>
            </a:r>
          </a:p>
        </p:txBody>
      </p:sp>
      <p:sp>
        <p:nvSpPr>
          <p:cNvPr id="10" name="TextBox 9"/>
          <p:cNvSpPr txBox="1"/>
          <p:nvPr/>
        </p:nvSpPr>
        <p:spPr>
          <a:xfrm>
            <a:off x="8138160" y="2011680"/>
            <a:ext cx="2377440" cy="365760"/>
          </a:xfrm>
          <a:prstGeom prst="rect">
            <a:avLst/>
          </a:prstGeom>
          <a:noFill/>
        </p:spPr>
        <p:txBody>
          <a:bodyPr wrap="square" lIns="45720" rIns="45720" tIns="18288" bIns="18288" anchor="t">
            <a:spAutoFit/>
          </a:bodyPr>
          <a:lstStyle/>
          <a:p>
            <a:pPr algn="l">
              <a:lnSpc>
                <a:spcPct val="110000"/>
              </a:lnSpc>
            </a:pPr>
            <a:r>
              <a:rPr sz="1500" b="0">
                <a:solidFill>
                  <a:srgbClr val="262A24"/>
                </a:solidFill>
                <a:latin typeface="Arial"/>
              </a:rPr>
              <a:t>Биология №118</a:t>
            </a:r>
          </a:p>
        </p:txBody>
      </p:sp>
      <p:sp>
        <p:nvSpPr>
          <p:cNvPr id="11" name="Rectangle 10"/>
          <p:cNvSpPr/>
          <p:nvPr/>
        </p:nvSpPr>
        <p:spPr>
          <a:xfrm>
            <a:off x="8138160" y="2359152"/>
            <a:ext cx="3017520" cy="146304"/>
          </a:xfrm>
          <a:prstGeom prst="rect">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2359152"/>
            <a:ext cx="2323490" cy="146304"/>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01400" y="2176272"/>
            <a:ext cx="548640" cy="365760"/>
          </a:xfrm>
          <a:prstGeom prst="rect">
            <a:avLst/>
          </a:prstGeom>
          <a:noFill/>
        </p:spPr>
        <p:txBody>
          <a:bodyPr wrap="square" lIns="45720" rIns="45720" tIns="18288" bIns="18288" anchor="t">
            <a:spAutoFit/>
          </a:bodyPr>
          <a:lstStyle/>
          <a:p>
            <a:pPr algn="l">
              <a:lnSpc>
                <a:spcPct val="110000"/>
              </a:lnSpc>
            </a:pPr>
            <a:r>
              <a:rPr sz="1700" b="1">
                <a:solidFill>
                  <a:srgbClr val="1F4A2C"/>
                </a:solidFill>
                <a:latin typeface="Arial"/>
              </a:rPr>
              <a:t>77</a:t>
            </a:r>
          </a:p>
        </p:txBody>
      </p:sp>
      <p:sp>
        <p:nvSpPr>
          <p:cNvPr id="14" name="TextBox 13"/>
          <p:cNvSpPr txBox="1"/>
          <p:nvPr/>
        </p:nvSpPr>
        <p:spPr>
          <a:xfrm>
            <a:off x="8138160" y="2670048"/>
            <a:ext cx="2377440" cy="365760"/>
          </a:xfrm>
          <a:prstGeom prst="rect">
            <a:avLst/>
          </a:prstGeom>
          <a:noFill/>
        </p:spPr>
        <p:txBody>
          <a:bodyPr wrap="square" lIns="45720" rIns="45720" tIns="18288" bIns="18288" anchor="t">
            <a:spAutoFit/>
          </a:bodyPr>
          <a:lstStyle/>
          <a:p>
            <a:pPr algn="l">
              <a:lnSpc>
                <a:spcPct val="110000"/>
              </a:lnSpc>
            </a:pPr>
            <a:r>
              <a:rPr sz="1500" b="0">
                <a:solidFill>
                  <a:srgbClr val="262A24"/>
                </a:solidFill>
                <a:latin typeface="Arial"/>
              </a:rPr>
              <a:t>Ағылшын тілі №214</a:t>
            </a:r>
          </a:p>
        </p:txBody>
      </p:sp>
      <p:sp>
        <p:nvSpPr>
          <p:cNvPr id="15" name="Rectangle 14"/>
          <p:cNvSpPr/>
          <p:nvPr/>
        </p:nvSpPr>
        <p:spPr>
          <a:xfrm>
            <a:off x="8138160" y="3017520"/>
            <a:ext cx="3017520" cy="146304"/>
          </a:xfrm>
          <a:prstGeom prst="rect">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3017520"/>
            <a:ext cx="1448409" cy="146304"/>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201400" y="2834640"/>
            <a:ext cx="548640" cy="365760"/>
          </a:xfrm>
          <a:prstGeom prst="rect">
            <a:avLst/>
          </a:prstGeom>
          <a:noFill/>
        </p:spPr>
        <p:txBody>
          <a:bodyPr wrap="square" lIns="45720" rIns="45720" tIns="18288" bIns="18288" anchor="t">
            <a:spAutoFit/>
          </a:bodyPr>
          <a:lstStyle/>
          <a:p>
            <a:pPr algn="l">
              <a:lnSpc>
                <a:spcPct val="110000"/>
              </a:lnSpc>
            </a:pPr>
            <a:r>
              <a:rPr sz="1700" b="1">
                <a:solidFill>
                  <a:srgbClr val="1F4A2C"/>
                </a:solidFill>
                <a:latin typeface="Arial"/>
              </a:rPr>
              <a:t>48</a:t>
            </a:r>
          </a:p>
        </p:txBody>
      </p:sp>
      <p:sp>
        <p:nvSpPr>
          <p:cNvPr id="18" name="TextBox 17"/>
          <p:cNvSpPr txBox="1"/>
          <p:nvPr/>
        </p:nvSpPr>
        <p:spPr>
          <a:xfrm>
            <a:off x="8138160" y="3328416"/>
            <a:ext cx="2377440" cy="365760"/>
          </a:xfrm>
          <a:prstGeom prst="rect">
            <a:avLst/>
          </a:prstGeom>
          <a:noFill/>
        </p:spPr>
        <p:txBody>
          <a:bodyPr wrap="square" lIns="45720" rIns="45720" tIns="18288" bIns="18288" anchor="t">
            <a:spAutoFit/>
          </a:bodyPr>
          <a:lstStyle/>
          <a:p>
            <a:pPr algn="l">
              <a:lnSpc>
                <a:spcPct val="110000"/>
              </a:lnSpc>
            </a:pPr>
            <a:r>
              <a:rPr sz="1500" b="0">
                <a:solidFill>
                  <a:srgbClr val="262A24"/>
                </a:solidFill>
                <a:latin typeface="Arial"/>
              </a:rPr>
              <a:t>Физика №216</a:t>
            </a:r>
          </a:p>
        </p:txBody>
      </p:sp>
      <p:sp>
        <p:nvSpPr>
          <p:cNvPr id="19" name="Rectangle 18"/>
          <p:cNvSpPr/>
          <p:nvPr/>
        </p:nvSpPr>
        <p:spPr>
          <a:xfrm>
            <a:off x="8138160" y="3675888"/>
            <a:ext cx="3017520" cy="146304"/>
          </a:xfrm>
          <a:prstGeom prst="rect">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3675888"/>
            <a:ext cx="1388059" cy="146304"/>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01400" y="3493008"/>
            <a:ext cx="548640" cy="365760"/>
          </a:xfrm>
          <a:prstGeom prst="rect">
            <a:avLst/>
          </a:prstGeom>
          <a:noFill/>
        </p:spPr>
        <p:txBody>
          <a:bodyPr wrap="square" lIns="45720" rIns="45720" tIns="18288" bIns="18288" anchor="t">
            <a:spAutoFit/>
          </a:bodyPr>
          <a:lstStyle/>
          <a:p>
            <a:pPr algn="l">
              <a:lnSpc>
                <a:spcPct val="110000"/>
              </a:lnSpc>
            </a:pPr>
            <a:r>
              <a:rPr sz="1700" b="1">
                <a:solidFill>
                  <a:srgbClr val="1F4A2C"/>
                </a:solidFill>
                <a:latin typeface="Arial"/>
              </a:rPr>
              <a:t>46</a:t>
            </a:r>
          </a:p>
        </p:txBody>
      </p:sp>
      <p:sp>
        <p:nvSpPr>
          <p:cNvPr id="22" name="TextBox 21"/>
          <p:cNvSpPr txBox="1"/>
          <p:nvPr/>
        </p:nvSpPr>
        <p:spPr>
          <a:xfrm>
            <a:off x="8138160" y="3986784"/>
            <a:ext cx="2377440" cy="365760"/>
          </a:xfrm>
          <a:prstGeom prst="rect">
            <a:avLst/>
          </a:prstGeom>
          <a:noFill/>
        </p:spPr>
        <p:txBody>
          <a:bodyPr wrap="square" lIns="45720" rIns="45720" tIns="18288" bIns="18288" anchor="t">
            <a:spAutoFit/>
          </a:bodyPr>
          <a:lstStyle/>
          <a:p>
            <a:pPr algn="l">
              <a:lnSpc>
                <a:spcPct val="110000"/>
              </a:lnSpc>
            </a:pPr>
            <a:r>
              <a:rPr sz="1500" b="0">
                <a:solidFill>
                  <a:srgbClr val="262A24"/>
                </a:solidFill>
                <a:latin typeface="Arial"/>
              </a:rPr>
              <a:t>Математика №207</a:t>
            </a:r>
          </a:p>
        </p:txBody>
      </p:sp>
      <p:sp>
        <p:nvSpPr>
          <p:cNvPr id="23" name="Rectangle 22"/>
          <p:cNvSpPr/>
          <p:nvPr/>
        </p:nvSpPr>
        <p:spPr>
          <a:xfrm>
            <a:off x="8138160" y="4334256"/>
            <a:ext cx="3017520" cy="146304"/>
          </a:xfrm>
          <a:prstGeom prst="rect">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60" y="4334256"/>
            <a:ext cx="1116482" cy="146304"/>
          </a:xfrm>
          <a:prstGeom prst="rect">
            <a:avLst/>
          </a:prstGeom>
          <a:solidFill>
            <a:srgbClr val="D98A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01400" y="4151376"/>
            <a:ext cx="548640" cy="365760"/>
          </a:xfrm>
          <a:prstGeom prst="rect">
            <a:avLst/>
          </a:prstGeom>
          <a:noFill/>
        </p:spPr>
        <p:txBody>
          <a:bodyPr wrap="square" lIns="45720" rIns="45720" tIns="18288" bIns="18288" anchor="t">
            <a:spAutoFit/>
          </a:bodyPr>
          <a:lstStyle/>
          <a:p>
            <a:pPr algn="l">
              <a:lnSpc>
                <a:spcPct val="110000"/>
              </a:lnSpc>
            </a:pPr>
            <a:r>
              <a:rPr sz="1700" b="1">
                <a:solidFill>
                  <a:srgbClr val="1F4A2C"/>
                </a:solidFill>
                <a:latin typeface="Arial"/>
              </a:rPr>
              <a:t>37</a:t>
            </a:r>
          </a:p>
        </p:txBody>
      </p:sp>
      <p:sp>
        <p:nvSpPr>
          <p:cNvPr id="26" name="Rounded Rectangle 25"/>
          <p:cNvSpPr/>
          <p:nvPr/>
        </p:nvSpPr>
        <p:spPr>
          <a:xfrm>
            <a:off x="8138160" y="4754880"/>
            <a:ext cx="3611880" cy="1463040"/>
          </a:xfrm>
          <a:prstGeom prst="roundRect">
            <a:avLst>
              <a:gd name="adj" fmla="val 8000"/>
            </a:avLst>
          </a:prstGeom>
          <a:solidFill>
            <a:srgbClr val="F6E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4828032"/>
            <a:ext cx="3291840" cy="1325880"/>
          </a:xfrm>
          <a:prstGeom prst="rect">
            <a:avLst/>
          </a:prstGeom>
          <a:noFill/>
        </p:spPr>
        <p:txBody>
          <a:bodyPr wrap="square" lIns="45720" rIns="45720" tIns="18288" bIns="18288" anchor="ctr">
            <a:spAutoFit/>
          </a:bodyPr>
          <a:lstStyle/>
          <a:p>
            <a:pPr algn="l">
              <a:lnSpc>
                <a:spcPct val="110000"/>
              </a:lnSpc>
            </a:pPr>
            <a:r>
              <a:rPr sz="1400" b="1">
                <a:solidFill>
                  <a:srgbClr val="1F4A2C"/>
                </a:solidFill>
                <a:latin typeface="Arial"/>
              </a:rPr>
              <a:t>Ұпай = </a:t>
            </a:r>
            <a:r>
              <a:rPr sz="1400" b="0">
                <a:solidFill>
                  <a:srgbClr val="262A24"/>
                </a:solidFill>
                <a:latin typeface="Arial"/>
              </a:rPr>
              <a:t>ауа 40 + ылғалдылық 20 + гүлдер 25 + күтім 15. </a:t>
            </a:r>
            <a:r>
              <a:rPr sz="1400" b="1">
                <a:solidFill>
                  <a:srgbClr val="D98A2F"/>
                </a:solidFill>
                <a:latin typeface="Arial"/>
              </a:rPr>
              <a:t>Алдын ала нәтиже.</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ЗЕРТТЕУ НӘТИЖЕСІ</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Гүлді және гүлсіз кабинет: айырма бар ма?</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9</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ectangle 6"/>
          <p:cNvSpPr/>
          <p:nvPr/>
        </p:nvSpPr>
        <p:spPr>
          <a:xfrm>
            <a:off x="510540" y="1516380"/>
            <a:ext cx="7299960" cy="277307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are.jpg"/>
          <p:cNvPicPr>
            <a:picLocks noChangeAspect="1"/>
          </p:cNvPicPr>
          <p:nvPr/>
        </p:nvPicPr>
        <p:blipFill>
          <a:blip r:embed="rId2"/>
          <a:stretch>
            <a:fillRect/>
          </a:stretch>
        </p:blipFill>
        <p:spPr>
          <a:xfrm>
            <a:off x="548640" y="1554480"/>
            <a:ext cx="7223760" cy="2696870"/>
          </a:xfrm>
          <a:prstGeom prst="rect">
            <a:avLst/>
          </a:prstGeom>
        </p:spPr>
      </p:pic>
      <p:sp>
        <p:nvSpPr>
          <p:cNvPr id="9" name="Rounded Rectangle 8"/>
          <p:cNvSpPr/>
          <p:nvPr/>
        </p:nvSpPr>
        <p:spPr>
          <a:xfrm>
            <a:off x="8138160" y="1554480"/>
            <a:ext cx="3611880" cy="141732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645920"/>
            <a:ext cx="3291840" cy="548640"/>
          </a:xfrm>
          <a:prstGeom prst="rect">
            <a:avLst/>
          </a:prstGeom>
          <a:noFill/>
        </p:spPr>
        <p:txBody>
          <a:bodyPr wrap="square" lIns="45720" rIns="45720" tIns="18288" bIns="18288" anchor="t">
            <a:spAutoFit/>
          </a:bodyPr>
          <a:lstStyle/>
          <a:p>
            <a:pPr algn="l">
              <a:lnSpc>
                <a:spcPct val="110000"/>
              </a:lnSpc>
            </a:pPr>
            <a:r>
              <a:rPr sz="2800" b="1">
                <a:solidFill>
                  <a:srgbClr val="4F8A3A"/>
                </a:solidFill>
                <a:latin typeface="Arial"/>
              </a:rPr>
              <a:t>+4 пункт</a:t>
            </a:r>
          </a:p>
        </p:txBody>
      </p:sp>
      <p:sp>
        <p:nvSpPr>
          <p:cNvPr id="11" name="TextBox 10"/>
          <p:cNvSpPr txBox="1"/>
          <p:nvPr/>
        </p:nvSpPr>
        <p:spPr>
          <a:xfrm>
            <a:off x="8321040" y="2194560"/>
            <a:ext cx="3291840" cy="731520"/>
          </a:xfrm>
          <a:prstGeom prst="rect">
            <a:avLst/>
          </a:prstGeom>
          <a:noFill/>
        </p:spPr>
        <p:txBody>
          <a:bodyPr wrap="square" lIns="45720" rIns="45720" tIns="18288" bIns="18288" anchor="t">
            <a:spAutoFit/>
          </a:bodyPr>
          <a:lstStyle/>
          <a:p>
            <a:pPr algn="l">
              <a:lnSpc>
                <a:spcPct val="110000"/>
              </a:lnSpc>
            </a:pPr>
            <a:r>
              <a:rPr sz="1400" b="0">
                <a:solidFill>
                  <a:srgbClr val="262A24"/>
                </a:solidFill>
                <a:latin typeface="Arial"/>
              </a:rPr>
              <a:t>ылғалдылық гүлді кабинетте жоғары (37% мен 33%)</a:t>
            </a:r>
          </a:p>
        </p:txBody>
      </p:sp>
      <p:sp>
        <p:nvSpPr>
          <p:cNvPr id="12" name="Rounded Rectangle 11"/>
          <p:cNvSpPr/>
          <p:nvPr/>
        </p:nvSpPr>
        <p:spPr>
          <a:xfrm>
            <a:off x="8138160" y="3154680"/>
            <a:ext cx="3611880" cy="141732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3246120"/>
            <a:ext cx="3291840" cy="548640"/>
          </a:xfrm>
          <a:prstGeom prst="rect">
            <a:avLst/>
          </a:prstGeom>
          <a:noFill/>
        </p:spPr>
        <p:txBody>
          <a:bodyPr wrap="square" lIns="45720" rIns="45720" tIns="18288" bIns="18288" anchor="t">
            <a:spAutoFit/>
          </a:bodyPr>
          <a:lstStyle/>
          <a:p>
            <a:pPr algn="l">
              <a:lnSpc>
                <a:spcPct val="110000"/>
              </a:lnSpc>
            </a:pPr>
            <a:r>
              <a:rPr sz="2800" b="1">
                <a:solidFill>
                  <a:srgbClr val="D98A2F"/>
                </a:solidFill>
                <a:latin typeface="Arial"/>
              </a:rPr>
              <a:t>≈ бірдей</a:t>
            </a:r>
          </a:p>
        </p:txBody>
      </p:sp>
      <p:sp>
        <p:nvSpPr>
          <p:cNvPr id="14" name="TextBox 13"/>
          <p:cNvSpPr txBox="1"/>
          <p:nvPr/>
        </p:nvSpPr>
        <p:spPr>
          <a:xfrm>
            <a:off x="8321040" y="3794760"/>
            <a:ext cx="3291840" cy="731520"/>
          </a:xfrm>
          <a:prstGeom prst="rect">
            <a:avLst/>
          </a:prstGeom>
          <a:noFill/>
        </p:spPr>
        <p:txBody>
          <a:bodyPr wrap="square" lIns="45720" rIns="45720" tIns="18288" bIns="18288" anchor="t">
            <a:spAutoFit/>
          </a:bodyPr>
          <a:lstStyle/>
          <a:p>
            <a:pPr algn="l">
              <a:lnSpc>
                <a:spcPct val="110000"/>
              </a:lnSpc>
            </a:pPr>
            <a:r>
              <a:rPr sz="1400" b="0">
                <a:solidFill>
                  <a:srgbClr val="262A24"/>
                </a:solidFill>
                <a:latin typeface="Arial"/>
              </a:rPr>
              <a:t>CO₂ (1039 мен 1072 ppm): оны желдету мен оқушы саны анықтайды</a:t>
            </a:r>
          </a:p>
        </p:txBody>
      </p:sp>
      <p:sp>
        <p:nvSpPr>
          <p:cNvPr id="15" name="Rounded Rectangle 14"/>
          <p:cNvSpPr/>
          <p:nvPr/>
        </p:nvSpPr>
        <p:spPr>
          <a:xfrm>
            <a:off x="548640" y="4892040"/>
            <a:ext cx="11201400" cy="1325880"/>
          </a:xfrm>
          <a:prstGeom prst="roundRect">
            <a:avLst>
              <a:gd name="adj" fmla="val 8000"/>
            </a:avLst>
          </a:prstGeom>
          <a:solidFill>
            <a:srgbClr val="F6E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956048"/>
            <a:ext cx="10789920" cy="1188720"/>
          </a:xfrm>
          <a:prstGeom prst="rect">
            <a:avLst/>
          </a:prstGeom>
          <a:noFill/>
        </p:spPr>
        <p:txBody>
          <a:bodyPr wrap="square" lIns="45720" rIns="45720" tIns="18288" bIns="18288" anchor="ctr">
            <a:spAutoFit/>
          </a:bodyPr>
          <a:lstStyle/>
          <a:p>
            <a:pPr algn="l">
              <a:lnSpc>
                <a:spcPct val="110000"/>
              </a:lnSpc>
            </a:pPr>
            <a:r>
              <a:rPr sz="1700" b="1">
                <a:solidFill>
                  <a:srgbClr val="1F4A2C"/>
                </a:solidFill>
                <a:latin typeface="Arial"/>
              </a:rPr>
              <a:t>Адал қорытынды: </a:t>
            </a:r>
            <a:r>
              <a:rPr sz="1700" b="0">
                <a:solidFill>
                  <a:srgbClr val="262A24"/>
                </a:solidFill>
                <a:latin typeface="Arial"/>
              </a:rPr>
              <a:t>гүл CO₂-ні айтарлықтай азайтпайды (Cummings &amp; Waring, 2019). Оның пайдасы — ылғалдылық, шаң, көңіл-күй. Мұны шаң тәжірибесі мен оқушылар сауалнамасы арқылы тексереміз.</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БИО-ХИМИЯЛЫҚ ЗЕРТХАНА</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Оқушы өзі дәлелдейді: 4 тәжірибе</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10</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ectangle 6"/>
          <p:cNvSpPr/>
          <p:nvPr/>
        </p:nvSpPr>
        <p:spPr>
          <a:xfrm>
            <a:off x="510540" y="1516380"/>
            <a:ext cx="5254603" cy="473964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exp.jpg"/>
          <p:cNvPicPr>
            <a:picLocks noChangeAspect="1"/>
          </p:cNvPicPr>
          <p:nvPr/>
        </p:nvPicPr>
        <p:blipFill>
          <a:blip r:embed="rId2"/>
          <a:stretch>
            <a:fillRect/>
          </a:stretch>
        </p:blipFill>
        <p:spPr>
          <a:xfrm>
            <a:off x="548640" y="1554480"/>
            <a:ext cx="5178403" cy="4663440"/>
          </a:xfrm>
          <a:prstGeom prst="rect">
            <a:avLst/>
          </a:prstGeom>
        </p:spPr>
      </p:pic>
      <p:sp>
        <p:nvSpPr>
          <p:cNvPr id="9" name="Rounded Rectangle 8"/>
          <p:cNvSpPr/>
          <p:nvPr/>
        </p:nvSpPr>
        <p:spPr>
          <a:xfrm>
            <a:off x="6400800" y="1554480"/>
            <a:ext cx="5349240" cy="105156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618488"/>
            <a:ext cx="5029200" cy="960120"/>
          </a:xfrm>
          <a:prstGeom prst="rect">
            <a:avLst/>
          </a:prstGeom>
          <a:noFill/>
        </p:spPr>
        <p:txBody>
          <a:bodyPr wrap="square" lIns="45720" rIns="45720" tIns="18288" bIns="18288" anchor="t">
            <a:spAutoFit/>
          </a:bodyPr>
          <a:lstStyle/>
          <a:p>
            <a:pPr algn="l">
              <a:lnSpc>
                <a:spcPct val="110000"/>
              </a:lnSpc>
            </a:pPr>
            <a:r>
              <a:rPr sz="1700" b="1">
                <a:solidFill>
                  <a:srgbClr val="1F4A2C"/>
                </a:solidFill>
                <a:latin typeface="Arial"/>
              </a:rPr>
              <a:t>CO₂ (химия)</a:t>
            </a:r>
          </a:p>
          <a:p>
            <a:pPr algn="l">
              <a:lnSpc>
                <a:spcPct val="110000"/>
              </a:lnSpc>
            </a:pPr>
            <a:r>
              <a:rPr sz="1400" b="0">
                <a:solidFill>
                  <a:srgbClr val="262A24"/>
                </a:solidFill>
                <a:latin typeface="Arial"/>
              </a:rPr>
              <a:t>шприц пен индикатор: ауаны ерітінді арқылы өткізіп, түс өзгергенше санаймыз</a:t>
            </a:r>
          </a:p>
        </p:txBody>
      </p:sp>
      <p:sp>
        <p:nvSpPr>
          <p:cNvPr id="11" name="Rounded Rectangle 10"/>
          <p:cNvSpPr/>
          <p:nvPr/>
        </p:nvSpPr>
        <p:spPr>
          <a:xfrm>
            <a:off x="6400800" y="2743200"/>
            <a:ext cx="5349240" cy="105156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807208"/>
            <a:ext cx="5029200" cy="960120"/>
          </a:xfrm>
          <a:prstGeom prst="rect">
            <a:avLst/>
          </a:prstGeom>
          <a:noFill/>
        </p:spPr>
        <p:txBody>
          <a:bodyPr wrap="square" lIns="45720" rIns="45720" tIns="18288" bIns="18288" anchor="t">
            <a:spAutoFit/>
          </a:bodyPr>
          <a:lstStyle/>
          <a:p>
            <a:pPr algn="l">
              <a:lnSpc>
                <a:spcPct val="110000"/>
              </a:lnSpc>
            </a:pPr>
            <a:r>
              <a:rPr sz="1700" b="1">
                <a:solidFill>
                  <a:srgbClr val="1F4A2C"/>
                </a:solidFill>
                <a:latin typeface="Arial"/>
              </a:rPr>
              <a:t>Булану (биология)</a:t>
            </a:r>
          </a:p>
          <a:p>
            <a:pPr algn="l">
              <a:lnSpc>
                <a:spcPct val="110000"/>
              </a:lnSpc>
            </a:pPr>
            <a:r>
              <a:rPr sz="1400" b="0">
                <a:solidFill>
                  <a:srgbClr val="262A24"/>
                </a:solidFill>
                <a:latin typeface="Arial"/>
              </a:rPr>
              <a:t>гүлді таразыда өлшеп, тәулігіне қанша су буландыратынын табамыз</a:t>
            </a:r>
          </a:p>
        </p:txBody>
      </p:sp>
      <p:sp>
        <p:nvSpPr>
          <p:cNvPr id="13" name="Rounded Rectangle 12"/>
          <p:cNvSpPr/>
          <p:nvPr/>
        </p:nvSpPr>
        <p:spPr>
          <a:xfrm>
            <a:off x="6400800" y="3931920"/>
            <a:ext cx="5349240" cy="105156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3995928"/>
            <a:ext cx="5029200" cy="960120"/>
          </a:xfrm>
          <a:prstGeom prst="rect">
            <a:avLst/>
          </a:prstGeom>
          <a:noFill/>
        </p:spPr>
        <p:txBody>
          <a:bodyPr wrap="square" lIns="45720" rIns="45720" tIns="18288" bIns="18288" anchor="t">
            <a:spAutoFit/>
          </a:bodyPr>
          <a:lstStyle/>
          <a:p>
            <a:pPr algn="l">
              <a:lnSpc>
                <a:spcPct val="110000"/>
              </a:lnSpc>
            </a:pPr>
            <a:r>
              <a:rPr sz="1700" b="1">
                <a:solidFill>
                  <a:srgbClr val="1F4A2C"/>
                </a:solidFill>
                <a:latin typeface="Arial"/>
              </a:rPr>
              <a:t>Лептесік (микроскоп)</a:t>
            </a:r>
          </a:p>
          <a:p>
            <a:pPr algn="l">
              <a:lnSpc>
                <a:spcPct val="110000"/>
              </a:lnSpc>
            </a:pPr>
            <a:r>
              <a:rPr sz="1400" b="0">
                <a:solidFill>
                  <a:srgbClr val="262A24"/>
                </a:solidFill>
                <a:latin typeface="Arial"/>
              </a:rPr>
              <a:t>жапырақтағы лептесікті санап, гүлдерді салыстырамыз</a:t>
            </a:r>
          </a:p>
        </p:txBody>
      </p:sp>
      <p:sp>
        <p:nvSpPr>
          <p:cNvPr id="15" name="Rounded Rectangle 14"/>
          <p:cNvSpPr/>
          <p:nvPr/>
        </p:nvSpPr>
        <p:spPr>
          <a:xfrm>
            <a:off x="6400800" y="5120640"/>
            <a:ext cx="5349240" cy="105156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5184648"/>
            <a:ext cx="5029200" cy="960120"/>
          </a:xfrm>
          <a:prstGeom prst="rect">
            <a:avLst/>
          </a:prstGeom>
          <a:noFill/>
        </p:spPr>
        <p:txBody>
          <a:bodyPr wrap="square" lIns="45720" rIns="45720" tIns="18288" bIns="18288" anchor="t">
            <a:spAutoFit/>
          </a:bodyPr>
          <a:lstStyle/>
          <a:p>
            <a:pPr algn="l">
              <a:lnSpc>
                <a:spcPct val="110000"/>
              </a:lnSpc>
            </a:pPr>
            <a:r>
              <a:rPr sz="1700" b="1">
                <a:solidFill>
                  <a:srgbClr val="1F4A2C"/>
                </a:solidFill>
                <a:latin typeface="Arial"/>
              </a:rPr>
              <a:t>Шаң</a:t>
            </a:r>
          </a:p>
          <a:p>
            <a:pPr algn="l">
              <a:lnSpc>
                <a:spcPct val="110000"/>
              </a:lnSpc>
            </a:pPr>
            <a:r>
              <a:rPr sz="1400" b="0">
                <a:solidFill>
                  <a:srgbClr val="262A24"/>
                </a:solidFill>
                <a:latin typeface="Arial"/>
              </a:rPr>
              <a:t>скотч тәжірибесі: бір аптада қанша шаң жиналады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ОҚУШЫ ДАУЫСЫ</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QR-код: сауалнама және «Өз бөлмеңді тексер»</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11</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ectangle 6"/>
          <p:cNvSpPr/>
          <p:nvPr/>
        </p:nvSpPr>
        <p:spPr>
          <a:xfrm>
            <a:off x="510540" y="1516380"/>
            <a:ext cx="2231107" cy="473964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saualnama.jpg"/>
          <p:cNvPicPr>
            <a:picLocks noChangeAspect="1"/>
          </p:cNvPicPr>
          <p:nvPr/>
        </p:nvPicPr>
        <p:blipFill>
          <a:blip r:embed="rId2"/>
          <a:stretch>
            <a:fillRect/>
          </a:stretch>
        </p:blipFill>
        <p:spPr>
          <a:xfrm>
            <a:off x="548640" y="1554480"/>
            <a:ext cx="2154907" cy="4663440"/>
          </a:xfrm>
          <a:prstGeom prst="rect">
            <a:avLst/>
          </a:prstGeom>
        </p:spPr>
      </p:pic>
      <p:sp>
        <p:nvSpPr>
          <p:cNvPr id="9" name="Rectangle 8"/>
          <p:cNvSpPr/>
          <p:nvPr/>
        </p:nvSpPr>
        <p:spPr>
          <a:xfrm>
            <a:off x="2933700" y="1516380"/>
            <a:ext cx="2231107" cy="473964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tekser.jpg"/>
          <p:cNvPicPr>
            <a:picLocks noChangeAspect="1"/>
          </p:cNvPicPr>
          <p:nvPr/>
        </p:nvPicPr>
        <p:blipFill>
          <a:blip r:embed="rId3"/>
          <a:stretch>
            <a:fillRect/>
          </a:stretch>
        </p:blipFill>
        <p:spPr>
          <a:xfrm>
            <a:off x="2971800" y="1554480"/>
            <a:ext cx="2154907" cy="4663440"/>
          </a:xfrm>
          <a:prstGeom prst="rect">
            <a:avLst/>
          </a:prstGeom>
        </p:spPr>
      </p:pic>
      <p:sp>
        <p:nvSpPr>
          <p:cNvPr id="11" name="TextBox 10"/>
          <p:cNvSpPr txBox="1"/>
          <p:nvPr/>
        </p:nvSpPr>
        <p:spPr>
          <a:xfrm>
            <a:off x="5577840" y="1600200"/>
            <a:ext cx="4023360" cy="3657600"/>
          </a:xfrm>
          <a:prstGeom prst="rect">
            <a:avLst/>
          </a:prstGeom>
          <a:noFill/>
        </p:spPr>
        <p:txBody>
          <a:bodyPr wrap="square" lIns="45720" rIns="45720" tIns="18288" bIns="18288" anchor="t">
            <a:spAutoFit/>
          </a:bodyPr>
          <a:lstStyle/>
          <a:p>
            <a:pPr algn="l">
              <a:lnSpc>
                <a:spcPct val="112000"/>
              </a:lnSpc>
            </a:pPr>
            <a:r>
              <a:rPr sz="1300" b="0">
                <a:solidFill>
                  <a:srgbClr val="4F8A3A"/>
                </a:solidFill>
                <a:latin typeface="Arial"/>
              </a:rPr>
              <a:t>● </a:t>
            </a:r>
            <a:r>
              <a:rPr sz="1700" b="1">
                <a:solidFill>
                  <a:srgbClr val="1F4A2C"/>
                </a:solidFill>
                <a:latin typeface="Arial"/>
              </a:rPr>
              <a:t>Сауалнама:</a:t>
            </a:r>
            <a:r>
              <a:rPr sz="1700" b="0">
                <a:solidFill>
                  <a:srgbClr val="262A24"/>
                </a:solidFill>
                <a:latin typeface="Arial"/>
              </a:rPr>
              <a:t> сабақ соңында 5 сұрақ, 1 минут, аты-жөні жазылмайды.</a:t>
            </a:r>
          </a:p>
          <a:p>
            <a:pPr algn="l">
              <a:lnSpc>
                <a:spcPct val="112000"/>
              </a:lnSpc>
              <a:spcBef>
                <a:spcPts val="1000"/>
              </a:spcBef>
            </a:pPr>
            <a:r>
              <a:rPr sz="1300" b="0">
                <a:solidFill>
                  <a:srgbClr val="4F8A3A"/>
                </a:solidFill>
                <a:latin typeface="Arial"/>
              </a:rPr>
              <a:t>● </a:t>
            </a:r>
            <a:r>
              <a:rPr sz="1700" b="1">
                <a:solidFill>
                  <a:srgbClr val="1F4A2C"/>
                </a:solidFill>
                <a:latin typeface="Arial"/>
              </a:rPr>
              <a:t>Ауа, сергектік, бас ауруы,</a:t>
            </a:r>
            <a:r>
              <a:rPr sz="1700" b="0">
                <a:solidFill>
                  <a:srgbClr val="262A24"/>
                </a:solidFill>
                <a:latin typeface="Arial"/>
              </a:rPr>
              <a:t> құрғақтық, көңіл-күй: 1–5 балл.</a:t>
            </a:r>
          </a:p>
          <a:p>
            <a:pPr algn="l">
              <a:lnSpc>
                <a:spcPct val="112000"/>
              </a:lnSpc>
              <a:spcBef>
                <a:spcPts val="1000"/>
              </a:spcBef>
            </a:pPr>
            <a:r>
              <a:rPr sz="1300" b="0">
                <a:solidFill>
                  <a:srgbClr val="4F8A3A"/>
                </a:solidFill>
                <a:latin typeface="Arial"/>
              </a:rPr>
              <a:t>● </a:t>
            </a:r>
            <a:r>
              <a:rPr sz="1700" b="1">
                <a:solidFill>
                  <a:srgbClr val="1F4A2C"/>
                </a:solidFill>
                <a:latin typeface="Arial"/>
              </a:rPr>
              <a:t>«Өз бөлмеңді тексер»:</a:t>
            </a:r>
            <a:r>
              <a:rPr sz="1700" b="0">
                <a:solidFill>
                  <a:srgbClr val="262A24"/>
                </a:solidFill>
                <a:latin typeface="Arial"/>
              </a:rPr>
              <a:t> оқушы үйдегі бөлмесін өлшеп, кеңес алады.</a:t>
            </a:r>
          </a:p>
        </p:txBody>
      </p:sp>
      <p:sp>
        <p:nvSpPr>
          <p:cNvPr id="12" name="Rectangle 11"/>
          <p:cNvSpPr/>
          <p:nvPr/>
        </p:nvSpPr>
        <p:spPr>
          <a:xfrm>
            <a:off x="9784080" y="1828800"/>
            <a:ext cx="1965960" cy="2286000"/>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qr-saualnama-118-biologiya.png"/>
          <p:cNvPicPr>
            <a:picLocks noChangeAspect="1"/>
          </p:cNvPicPr>
          <p:nvPr/>
        </p:nvPicPr>
        <p:blipFill>
          <a:blip r:embed="rId4"/>
          <a:stretch>
            <a:fillRect/>
          </a:stretch>
        </p:blipFill>
        <p:spPr>
          <a:xfrm>
            <a:off x="9893808" y="1920240"/>
            <a:ext cx="1737360" cy="1737360"/>
          </a:xfrm>
          <a:prstGeom prst="rect">
            <a:avLst/>
          </a:prstGeom>
        </p:spPr>
      </p:pic>
      <p:sp>
        <p:nvSpPr>
          <p:cNvPr id="14" name="TextBox 13"/>
          <p:cNvSpPr txBox="1"/>
          <p:nvPr/>
        </p:nvSpPr>
        <p:spPr>
          <a:xfrm>
            <a:off x="9784080" y="3657600"/>
            <a:ext cx="1965960" cy="411480"/>
          </a:xfrm>
          <a:prstGeom prst="rect">
            <a:avLst/>
          </a:prstGeom>
          <a:noFill/>
        </p:spPr>
        <p:txBody>
          <a:bodyPr wrap="square" lIns="45720" rIns="45720" tIns="18288" bIns="18288" anchor="t">
            <a:spAutoFit/>
          </a:bodyPr>
          <a:lstStyle/>
          <a:p>
            <a:pPr algn="ctr">
              <a:lnSpc>
                <a:spcPct val="110000"/>
              </a:lnSpc>
            </a:pPr>
            <a:r>
              <a:rPr sz="1200" b="1">
                <a:solidFill>
                  <a:srgbClr val="1F4A2C"/>
                </a:solidFill>
                <a:latin typeface="Arial"/>
              </a:rPr>
              <a:t>Сауалнама · №118</a:t>
            </a:r>
          </a:p>
        </p:txBody>
      </p:sp>
      <p:sp>
        <p:nvSpPr>
          <p:cNvPr id="15" name="TextBox 14"/>
          <p:cNvSpPr txBox="1"/>
          <p:nvPr/>
        </p:nvSpPr>
        <p:spPr>
          <a:xfrm>
            <a:off x="5577840" y="5120640"/>
            <a:ext cx="6126480" cy="914400"/>
          </a:xfrm>
          <a:prstGeom prst="rect">
            <a:avLst/>
          </a:prstGeom>
          <a:noFill/>
        </p:spPr>
        <p:txBody>
          <a:bodyPr wrap="square" lIns="45720" rIns="45720" tIns="18288" bIns="18288" anchor="t">
            <a:spAutoFit/>
          </a:bodyPr>
          <a:lstStyle/>
          <a:p>
            <a:pPr algn="l">
              <a:lnSpc>
                <a:spcPct val="110000"/>
              </a:lnSpc>
            </a:pPr>
            <a:r>
              <a:rPr sz="1700" b="1">
                <a:solidFill>
                  <a:srgbClr val="4F8A3A"/>
                </a:solidFill>
                <a:latin typeface="Arial"/>
              </a:rPr>
              <a:t>Залдағы кез келген адам қазір сканерлеп, жауап бере алады.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ЖАСАНДЫ ИНТЕЛЛЕКТ</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ЖИ экокеңесші: деректі түсінуге көмектеседі</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12</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ectangle 6"/>
          <p:cNvSpPr/>
          <p:nvPr/>
        </p:nvSpPr>
        <p:spPr>
          <a:xfrm>
            <a:off x="510540" y="1516380"/>
            <a:ext cx="6659880" cy="4970068"/>
          </a:xfrm>
          <a:prstGeom prst="rect">
            <a:avLst/>
          </a:prstGeom>
          <a:solidFill>
            <a:srgbClr val="FFFFFF"/>
          </a:solidFill>
          <a:ln w="12700">
            <a:solidFill>
              <a:srgbClr val="DDD3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jpg"/>
          <p:cNvPicPr>
            <a:picLocks noChangeAspect="1"/>
          </p:cNvPicPr>
          <p:nvPr/>
        </p:nvPicPr>
        <p:blipFill>
          <a:blip r:embed="rId2"/>
          <a:stretch>
            <a:fillRect/>
          </a:stretch>
        </p:blipFill>
        <p:spPr>
          <a:xfrm>
            <a:off x="548640" y="1554480"/>
            <a:ext cx="6583680" cy="4893868"/>
          </a:xfrm>
          <a:prstGeom prst="rect">
            <a:avLst/>
          </a:prstGeom>
        </p:spPr>
      </p:pic>
      <p:sp>
        <p:nvSpPr>
          <p:cNvPr id="9" name="TextBox 8"/>
          <p:cNvSpPr txBox="1"/>
          <p:nvPr/>
        </p:nvSpPr>
        <p:spPr>
          <a:xfrm>
            <a:off x="7498079" y="1600200"/>
            <a:ext cx="4251960" cy="3291840"/>
          </a:xfrm>
          <a:prstGeom prst="rect">
            <a:avLst/>
          </a:prstGeom>
          <a:noFill/>
        </p:spPr>
        <p:txBody>
          <a:bodyPr wrap="square" lIns="45720" rIns="45720" tIns="18288" bIns="18288" anchor="t">
            <a:spAutoFit/>
          </a:bodyPr>
          <a:lstStyle/>
          <a:p>
            <a:pPr algn="l">
              <a:lnSpc>
                <a:spcPct val="112000"/>
              </a:lnSpc>
            </a:pPr>
            <a:r>
              <a:rPr sz="1200" b="0">
                <a:solidFill>
                  <a:srgbClr val="4F8A3A"/>
                </a:solidFill>
                <a:latin typeface="Arial"/>
              </a:rPr>
              <a:t>● </a:t>
            </a:r>
            <a:r>
              <a:rPr sz="1600" b="1">
                <a:solidFill>
                  <a:srgbClr val="1F4A2C"/>
                </a:solidFill>
                <a:latin typeface="Arial"/>
              </a:rPr>
              <a:t>Біздің деректерге сүйенеді:</a:t>
            </a:r>
            <a:r>
              <a:rPr sz="1600" b="0">
                <a:solidFill>
                  <a:srgbClr val="262A24"/>
                </a:solidFill>
                <a:latin typeface="Arial"/>
              </a:rPr>
              <a:t> кабинеттер, сабақтар, сауалнама, тәжірибелер.</a:t>
            </a:r>
          </a:p>
          <a:p>
            <a:pPr algn="l">
              <a:lnSpc>
                <a:spcPct val="112000"/>
              </a:lnSpc>
              <a:spcBef>
                <a:spcPts val="800"/>
              </a:spcBef>
            </a:pPr>
            <a:r>
              <a:rPr sz="1200" b="0">
                <a:solidFill>
                  <a:srgbClr val="4F8A3A"/>
                </a:solidFill>
                <a:latin typeface="Arial"/>
              </a:rPr>
              <a:t>● </a:t>
            </a:r>
            <a:r>
              <a:rPr sz="1600" b="1">
                <a:solidFill>
                  <a:srgbClr val="1F4A2C"/>
                </a:solidFill>
                <a:latin typeface="Arial"/>
              </a:rPr>
              <a:t>Әлемдік зерттеулерге</a:t>
            </a:r>
            <a:r>
              <a:rPr sz="1600" b="0">
                <a:solidFill>
                  <a:srgbClr val="262A24"/>
                </a:solidFill>
                <a:latin typeface="Arial"/>
              </a:rPr>
              <a:t> (Автор, жыл) түрінде сілтейді.</a:t>
            </a:r>
          </a:p>
          <a:p>
            <a:pPr algn="l">
              <a:lnSpc>
                <a:spcPct val="112000"/>
              </a:lnSpc>
              <a:spcBef>
                <a:spcPts val="800"/>
              </a:spcBef>
            </a:pPr>
            <a:r>
              <a:rPr sz="1200" b="0">
                <a:solidFill>
                  <a:srgbClr val="4F8A3A"/>
                </a:solidFill>
                <a:latin typeface="Arial"/>
              </a:rPr>
              <a:t>● </a:t>
            </a:r>
            <a:r>
              <a:rPr sz="1600" b="1">
                <a:solidFill>
                  <a:srgbClr val="1F4A2C"/>
                </a:solidFill>
                <a:latin typeface="Arial"/>
              </a:rPr>
              <a:t>Ойдан сан құрастырмайды:</a:t>
            </a:r>
            <a:r>
              <a:rPr sz="1600" b="0">
                <a:solidFill>
                  <a:srgbClr val="262A24"/>
                </a:solidFill>
                <a:latin typeface="Arial"/>
              </a:rPr>
              <a:t> білмесе, «білмеймін» дейді.</a:t>
            </a:r>
          </a:p>
          <a:p>
            <a:pPr algn="l">
              <a:lnSpc>
                <a:spcPct val="112000"/>
              </a:lnSpc>
              <a:spcBef>
                <a:spcPts val="800"/>
              </a:spcBef>
            </a:pPr>
            <a:r>
              <a:rPr sz="1200" b="0">
                <a:solidFill>
                  <a:srgbClr val="4F8A3A"/>
                </a:solidFill>
                <a:latin typeface="Arial"/>
              </a:rPr>
              <a:t>● </a:t>
            </a:r>
            <a:r>
              <a:rPr sz="1600" b="1">
                <a:solidFill>
                  <a:srgbClr val="1F4A2C"/>
                </a:solidFill>
                <a:latin typeface="Arial"/>
              </a:rPr>
              <a:t>Соңында «Тексеріп көр»</a:t>
            </a:r>
            <a:r>
              <a:rPr sz="1600" b="0">
                <a:solidFill>
                  <a:srgbClr val="262A24"/>
                </a:solidFill>
                <a:latin typeface="Arial"/>
              </a:rPr>
              <a:t> деп оқушыға тапсырма береді.</a:t>
            </a:r>
          </a:p>
        </p:txBody>
      </p:sp>
      <p:sp>
        <p:nvSpPr>
          <p:cNvPr id="10" name="Rounded Rectangle 9"/>
          <p:cNvSpPr/>
          <p:nvPr/>
        </p:nvSpPr>
        <p:spPr>
          <a:xfrm>
            <a:off x="7498079" y="4846320"/>
            <a:ext cx="4251960" cy="1371600"/>
          </a:xfrm>
          <a:prstGeom prst="roundRect">
            <a:avLst>
              <a:gd name="adj" fmla="val 8000"/>
            </a:avLst>
          </a:prstGeom>
          <a:solidFill>
            <a:srgbClr val="1F4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4892040"/>
            <a:ext cx="3931920" cy="1280160"/>
          </a:xfrm>
          <a:prstGeom prst="rect">
            <a:avLst/>
          </a:prstGeom>
          <a:noFill/>
        </p:spPr>
        <p:txBody>
          <a:bodyPr wrap="square" lIns="45720" rIns="45720" tIns="18288" bIns="18288" anchor="ctr">
            <a:spAutoFit/>
          </a:bodyPr>
          <a:lstStyle/>
          <a:p>
            <a:pPr algn="l">
              <a:lnSpc>
                <a:spcPct val="110000"/>
              </a:lnSpc>
            </a:pPr>
            <a:r>
              <a:rPr sz="2100" b="1">
                <a:solidFill>
                  <a:srgbClr val="FFFFFF"/>
                </a:solidFill>
                <a:latin typeface="Arial"/>
              </a:rPr>
              <a:t>ЖИ ұсынады — қорытындыны оқушы жасайды.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ТІРІ КӨРСЕТІЛІМ</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Сайтты қалай көрсетеміз: 5 қадам</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13</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Oval 6"/>
          <p:cNvSpPr/>
          <p:nvPr/>
        </p:nvSpPr>
        <p:spPr>
          <a:xfrm>
            <a:off x="640080" y="1673352"/>
            <a:ext cx="566928" cy="566928"/>
          </a:xfrm>
          <a:prstGeom prst="ellipse">
            <a:avLst/>
          </a:prstGeom>
          <a:solidFill>
            <a:srgbClr val="1F4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Arial"/>
              </a:rPr>
              <a:t>1</a:t>
            </a:r>
          </a:p>
        </p:txBody>
      </p:sp>
      <p:sp>
        <p:nvSpPr>
          <p:cNvPr id="8" name="TextBox 7"/>
          <p:cNvSpPr txBox="1"/>
          <p:nvPr/>
        </p:nvSpPr>
        <p:spPr>
          <a:xfrm>
            <a:off x="1371600" y="1618488"/>
            <a:ext cx="6949440" cy="777240"/>
          </a:xfrm>
          <a:prstGeom prst="rect">
            <a:avLst/>
          </a:prstGeom>
          <a:noFill/>
        </p:spPr>
        <p:txBody>
          <a:bodyPr wrap="square" lIns="45720" rIns="45720" tIns="18288" bIns="18288" anchor="t">
            <a:spAutoFit/>
          </a:bodyPr>
          <a:lstStyle/>
          <a:p>
            <a:pPr algn="l">
              <a:lnSpc>
                <a:spcPct val="110000"/>
              </a:lnSpc>
            </a:pPr>
            <a:r>
              <a:rPr sz="2000" b="1">
                <a:solidFill>
                  <a:srgbClr val="1F4A2C"/>
                </a:solidFill>
                <a:latin typeface="Arial"/>
              </a:rPr>
              <a:t>Экокарта</a:t>
            </a:r>
          </a:p>
          <a:p>
            <a:pPr algn="l">
              <a:lnSpc>
                <a:spcPct val="110000"/>
              </a:lnSpc>
            </a:pPr>
            <a:r>
              <a:rPr sz="1500" b="0">
                <a:solidFill>
                  <a:srgbClr val="262A24"/>
                </a:solidFill>
                <a:latin typeface="Arial"/>
              </a:rPr>
              <a:t>Қызылорда → «Топырақ»: сортаң кесінді, 7 нүкте</a:t>
            </a:r>
          </a:p>
        </p:txBody>
      </p:sp>
      <p:sp>
        <p:nvSpPr>
          <p:cNvPr id="9" name="Oval 8"/>
          <p:cNvSpPr/>
          <p:nvPr/>
        </p:nvSpPr>
        <p:spPr>
          <a:xfrm>
            <a:off x="640080" y="2587752"/>
            <a:ext cx="566928" cy="566928"/>
          </a:xfrm>
          <a:prstGeom prst="ellipse">
            <a:avLst/>
          </a:prstGeom>
          <a:solidFill>
            <a:srgbClr val="1F4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Arial"/>
              </a:rPr>
              <a:t>2</a:t>
            </a:r>
          </a:p>
        </p:txBody>
      </p:sp>
      <p:sp>
        <p:nvSpPr>
          <p:cNvPr id="10" name="TextBox 9"/>
          <p:cNvSpPr txBox="1"/>
          <p:nvPr/>
        </p:nvSpPr>
        <p:spPr>
          <a:xfrm>
            <a:off x="1371600" y="2532888"/>
            <a:ext cx="6949440" cy="777240"/>
          </a:xfrm>
          <a:prstGeom prst="rect">
            <a:avLst/>
          </a:prstGeom>
          <a:noFill/>
        </p:spPr>
        <p:txBody>
          <a:bodyPr wrap="square" lIns="45720" rIns="45720" tIns="18288" bIns="18288" anchor="t">
            <a:spAutoFit/>
          </a:bodyPr>
          <a:lstStyle/>
          <a:p>
            <a:pPr algn="l">
              <a:lnSpc>
                <a:spcPct val="110000"/>
              </a:lnSpc>
            </a:pPr>
            <a:r>
              <a:rPr sz="2000" b="1">
                <a:solidFill>
                  <a:srgbClr val="1F4A2C"/>
                </a:solidFill>
                <a:latin typeface="Arial"/>
              </a:rPr>
              <a:t>Мектептер</a:t>
            </a:r>
          </a:p>
          <a:p>
            <a:pPr algn="l">
              <a:lnSpc>
                <a:spcPct val="110000"/>
              </a:lnSpc>
            </a:pPr>
            <a:r>
              <a:rPr sz="1500" b="0">
                <a:solidFill>
                  <a:srgbClr val="262A24"/>
                </a:solidFill>
                <a:latin typeface="Arial"/>
              </a:rPr>
              <a:t>№23 мектеп-лицей → экопаспорт, рейтинг</a:t>
            </a:r>
          </a:p>
        </p:txBody>
      </p:sp>
      <p:sp>
        <p:nvSpPr>
          <p:cNvPr id="11" name="Oval 10"/>
          <p:cNvSpPr/>
          <p:nvPr/>
        </p:nvSpPr>
        <p:spPr>
          <a:xfrm>
            <a:off x="640080" y="3502152"/>
            <a:ext cx="566928" cy="566928"/>
          </a:xfrm>
          <a:prstGeom prst="ellipse">
            <a:avLst/>
          </a:prstGeom>
          <a:solidFill>
            <a:srgbClr val="1F4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Arial"/>
              </a:rPr>
              <a:t>3</a:t>
            </a:r>
          </a:p>
        </p:txBody>
      </p:sp>
      <p:sp>
        <p:nvSpPr>
          <p:cNvPr id="12" name="TextBox 11"/>
          <p:cNvSpPr txBox="1"/>
          <p:nvPr/>
        </p:nvSpPr>
        <p:spPr>
          <a:xfrm>
            <a:off x="1371600" y="3447288"/>
            <a:ext cx="6949440" cy="777240"/>
          </a:xfrm>
          <a:prstGeom prst="rect">
            <a:avLst/>
          </a:prstGeom>
          <a:noFill/>
        </p:spPr>
        <p:txBody>
          <a:bodyPr wrap="square" lIns="45720" rIns="45720" tIns="18288" bIns="18288" anchor="t">
            <a:spAutoFit/>
          </a:bodyPr>
          <a:lstStyle/>
          <a:p>
            <a:pPr algn="l">
              <a:lnSpc>
                <a:spcPct val="110000"/>
              </a:lnSpc>
            </a:pPr>
            <a:r>
              <a:rPr sz="2000" b="1">
                <a:solidFill>
                  <a:srgbClr val="1F4A2C"/>
                </a:solidFill>
                <a:latin typeface="Arial"/>
              </a:rPr>
              <a:t>Зертхана</a:t>
            </a:r>
          </a:p>
          <a:p>
            <a:pPr algn="l">
              <a:lnSpc>
                <a:spcPct val="110000"/>
              </a:lnSpc>
            </a:pPr>
            <a:r>
              <a:rPr sz="1500" b="0">
                <a:solidFill>
                  <a:srgbClr val="262A24"/>
                </a:solidFill>
                <a:latin typeface="Arial"/>
              </a:rPr>
              <a:t>«Кабинет зерттеуіне арналған тәжірибелер»</a:t>
            </a:r>
          </a:p>
        </p:txBody>
      </p:sp>
      <p:sp>
        <p:nvSpPr>
          <p:cNvPr id="13" name="Oval 12"/>
          <p:cNvSpPr/>
          <p:nvPr/>
        </p:nvSpPr>
        <p:spPr>
          <a:xfrm>
            <a:off x="640080" y="4416552"/>
            <a:ext cx="566928" cy="566928"/>
          </a:xfrm>
          <a:prstGeom prst="ellipse">
            <a:avLst/>
          </a:prstGeom>
          <a:solidFill>
            <a:srgbClr val="1F4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Arial"/>
              </a:rPr>
              <a:t>4</a:t>
            </a:r>
          </a:p>
        </p:txBody>
      </p:sp>
      <p:sp>
        <p:nvSpPr>
          <p:cNvPr id="14" name="TextBox 13"/>
          <p:cNvSpPr txBox="1"/>
          <p:nvPr/>
        </p:nvSpPr>
        <p:spPr>
          <a:xfrm>
            <a:off x="1371600" y="4361688"/>
            <a:ext cx="6949440" cy="777240"/>
          </a:xfrm>
          <a:prstGeom prst="rect">
            <a:avLst/>
          </a:prstGeom>
          <a:noFill/>
        </p:spPr>
        <p:txBody>
          <a:bodyPr wrap="square" lIns="45720" rIns="45720" tIns="18288" bIns="18288" anchor="t">
            <a:spAutoFit/>
          </a:bodyPr>
          <a:lstStyle/>
          <a:p>
            <a:pPr algn="l">
              <a:lnSpc>
                <a:spcPct val="110000"/>
              </a:lnSpc>
            </a:pPr>
            <a:r>
              <a:rPr sz="2000" b="1">
                <a:solidFill>
                  <a:srgbClr val="1F4A2C"/>
                </a:solidFill>
                <a:latin typeface="Arial"/>
              </a:rPr>
              <a:t>Сауалнама</a:t>
            </a:r>
          </a:p>
          <a:p>
            <a:pPr algn="l">
              <a:lnSpc>
                <a:spcPct val="110000"/>
              </a:lnSpc>
            </a:pPr>
            <a:r>
              <a:rPr sz="1500" b="0">
                <a:solidFill>
                  <a:srgbClr val="262A24"/>
                </a:solidFill>
                <a:latin typeface="Arial"/>
              </a:rPr>
              <a:t>залға QR беріп, жауап жинау</a:t>
            </a:r>
          </a:p>
        </p:txBody>
      </p:sp>
      <p:sp>
        <p:nvSpPr>
          <p:cNvPr id="15" name="Oval 14"/>
          <p:cNvSpPr/>
          <p:nvPr/>
        </p:nvSpPr>
        <p:spPr>
          <a:xfrm>
            <a:off x="640080" y="5330952"/>
            <a:ext cx="566928" cy="566928"/>
          </a:xfrm>
          <a:prstGeom prst="ellipse">
            <a:avLst/>
          </a:prstGeom>
          <a:solidFill>
            <a:srgbClr val="1F4A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Arial"/>
              </a:rPr>
              <a:t>5</a:t>
            </a:r>
          </a:p>
        </p:txBody>
      </p:sp>
      <p:sp>
        <p:nvSpPr>
          <p:cNvPr id="16" name="TextBox 15"/>
          <p:cNvSpPr txBox="1"/>
          <p:nvPr/>
        </p:nvSpPr>
        <p:spPr>
          <a:xfrm>
            <a:off x="1371600" y="5276088"/>
            <a:ext cx="6949440" cy="777240"/>
          </a:xfrm>
          <a:prstGeom prst="rect">
            <a:avLst/>
          </a:prstGeom>
          <a:noFill/>
        </p:spPr>
        <p:txBody>
          <a:bodyPr wrap="square" lIns="45720" rIns="45720" tIns="18288" bIns="18288" anchor="t">
            <a:spAutoFit/>
          </a:bodyPr>
          <a:lstStyle/>
          <a:p>
            <a:pPr algn="l">
              <a:lnSpc>
                <a:spcPct val="110000"/>
              </a:lnSpc>
            </a:pPr>
            <a:r>
              <a:rPr sz="2000" b="1">
                <a:solidFill>
                  <a:srgbClr val="1F4A2C"/>
                </a:solidFill>
                <a:latin typeface="Arial"/>
              </a:rPr>
              <a:t>ЖИ экокеңесші</a:t>
            </a:r>
          </a:p>
          <a:p>
            <a:pPr algn="l">
              <a:lnSpc>
                <a:spcPct val="110000"/>
              </a:lnSpc>
            </a:pPr>
            <a:r>
              <a:rPr sz="1500" b="0">
                <a:solidFill>
                  <a:srgbClr val="262A24"/>
                </a:solidFill>
                <a:latin typeface="Arial"/>
              </a:rPr>
              <a:t>«Гүлді және гүлсіз кабинетті салыстыр» деп сұрау</a:t>
            </a:r>
          </a:p>
        </p:txBody>
      </p:sp>
      <p:sp>
        <p:nvSpPr>
          <p:cNvPr id="17" name="Rounded Rectangle 16"/>
          <p:cNvSpPr/>
          <p:nvPr/>
        </p:nvSpPr>
        <p:spPr>
          <a:xfrm>
            <a:off x="8778240" y="1600200"/>
            <a:ext cx="297180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qr-site.png"/>
          <p:cNvPicPr>
            <a:picLocks noChangeAspect="1"/>
          </p:cNvPicPr>
          <p:nvPr/>
        </p:nvPicPr>
        <p:blipFill>
          <a:blip r:embed="rId2"/>
          <a:stretch>
            <a:fillRect/>
          </a:stretch>
        </p:blipFill>
        <p:spPr>
          <a:xfrm>
            <a:off x="9006840" y="1783080"/>
            <a:ext cx="2514600" cy="2514600"/>
          </a:xfrm>
          <a:prstGeom prst="rect">
            <a:avLst/>
          </a:prstGeom>
        </p:spPr>
      </p:pic>
      <p:sp>
        <p:nvSpPr>
          <p:cNvPr id="19" name="TextBox 18"/>
          <p:cNvSpPr txBox="1"/>
          <p:nvPr/>
        </p:nvSpPr>
        <p:spPr>
          <a:xfrm>
            <a:off x="8778240" y="4315968"/>
            <a:ext cx="2971800" cy="457200"/>
          </a:xfrm>
          <a:prstGeom prst="rect">
            <a:avLst/>
          </a:prstGeom>
          <a:noFill/>
        </p:spPr>
        <p:txBody>
          <a:bodyPr wrap="square" lIns="45720" rIns="45720" tIns="18288" bIns="18288" anchor="t">
            <a:spAutoFit/>
          </a:bodyPr>
          <a:lstStyle/>
          <a:p>
            <a:pPr algn="ctr">
              <a:lnSpc>
                <a:spcPct val="110000"/>
              </a:lnSpc>
            </a:pPr>
            <a:r>
              <a:rPr sz="1200" b="1">
                <a:solidFill>
                  <a:srgbClr val="1F4A2C"/>
                </a:solidFill>
                <a:latin typeface="Arial"/>
              </a:rPr>
              <a:t>zhasyl-kazakhstan-bfkx.vercel.app</a:t>
            </a:r>
          </a:p>
        </p:txBody>
      </p:sp>
      <p:sp>
        <p:nvSpPr>
          <p:cNvPr id="20" name="Rounded Rectangle 19"/>
          <p:cNvSpPr/>
          <p:nvPr/>
        </p:nvSpPr>
        <p:spPr>
          <a:xfrm>
            <a:off x="8778240" y="5074920"/>
            <a:ext cx="2971800" cy="114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15400" y="5120640"/>
            <a:ext cx="2743200" cy="1051560"/>
          </a:xfrm>
          <a:prstGeom prst="rect">
            <a:avLst/>
          </a:prstGeom>
          <a:noFill/>
        </p:spPr>
        <p:txBody>
          <a:bodyPr wrap="square" lIns="45720" rIns="45720" tIns="18288" bIns="18288" anchor="ctr">
            <a:spAutoFit/>
          </a:bodyPr>
          <a:lstStyle/>
          <a:p>
            <a:pPr algn="l">
              <a:lnSpc>
                <a:spcPct val="110000"/>
              </a:lnSpc>
            </a:pPr>
            <a:r>
              <a:rPr sz="1300" b="0">
                <a:solidFill>
                  <a:srgbClr val="6B675C"/>
                </a:solidFill>
                <a:latin typeface="Arial"/>
              </a:rPr>
              <a:t>Интернет болмаса: осы слайдтардағы скриншоттар жеткілікті.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AF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F8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144000" cy="365760"/>
          </a:xfrm>
          <a:prstGeom prst="rect">
            <a:avLst/>
          </a:prstGeom>
          <a:noFill/>
        </p:spPr>
        <p:txBody>
          <a:bodyPr wrap="square" lIns="45720" rIns="45720" tIns="18288" bIns="18288" anchor="t">
            <a:spAutoFit/>
          </a:bodyPr>
          <a:lstStyle/>
          <a:p>
            <a:pPr algn="l">
              <a:lnSpc>
                <a:spcPct val="110000"/>
              </a:lnSpc>
            </a:pPr>
            <a:r>
              <a:rPr sz="1300" b="1">
                <a:solidFill>
                  <a:srgbClr val="4F8A3A"/>
                </a:solidFill>
                <a:latin typeface="Arial"/>
              </a:rPr>
              <a:t>ҚОРЫТЫНДЫ</a:t>
            </a:r>
          </a:p>
        </p:txBody>
      </p:sp>
      <p:sp>
        <p:nvSpPr>
          <p:cNvPr id="4" name="TextBox 3"/>
          <p:cNvSpPr txBox="1"/>
          <p:nvPr/>
        </p:nvSpPr>
        <p:spPr>
          <a:xfrm>
            <a:off x="548640" y="621792"/>
            <a:ext cx="11155680" cy="822960"/>
          </a:xfrm>
          <a:prstGeom prst="rect">
            <a:avLst/>
          </a:prstGeom>
          <a:noFill/>
        </p:spPr>
        <p:txBody>
          <a:bodyPr wrap="square" lIns="45720" rIns="45720" tIns="18288" bIns="18288" anchor="t">
            <a:spAutoFit/>
          </a:bodyPr>
          <a:lstStyle/>
          <a:p>
            <a:pPr algn="l">
              <a:lnSpc>
                <a:spcPct val="110000"/>
              </a:lnSpc>
            </a:pPr>
            <a:r>
              <a:rPr sz="3200" b="1">
                <a:solidFill>
                  <a:srgbClr val="1F4A2C"/>
                </a:solidFill>
                <a:latin typeface="Arial"/>
              </a:rPr>
              <a:t>Не жасалды және келесі қадам</a:t>
            </a:r>
          </a:p>
        </p:txBody>
      </p:sp>
      <p:sp>
        <p:nvSpPr>
          <p:cNvPr id="5" name="TextBox 4"/>
          <p:cNvSpPr txBox="1"/>
          <p:nvPr/>
        </p:nvSpPr>
        <p:spPr>
          <a:xfrm>
            <a:off x="11247120" y="6400800"/>
            <a:ext cx="731520" cy="320040"/>
          </a:xfrm>
          <a:prstGeom prst="rect">
            <a:avLst/>
          </a:prstGeom>
          <a:noFill/>
        </p:spPr>
        <p:txBody>
          <a:bodyPr wrap="square" lIns="45720" rIns="45720" tIns="18288" bIns="18288" anchor="t">
            <a:spAutoFit/>
          </a:bodyPr>
          <a:lstStyle/>
          <a:p>
            <a:pPr algn="r">
              <a:lnSpc>
                <a:spcPct val="110000"/>
              </a:lnSpc>
            </a:pPr>
            <a:r>
              <a:rPr sz="1200" b="0">
                <a:solidFill>
                  <a:srgbClr val="6B675C"/>
                </a:solidFill>
                <a:latin typeface="Arial"/>
              </a:rPr>
              <a:t>14</a:t>
            </a:r>
          </a:p>
        </p:txBody>
      </p:sp>
      <p:sp>
        <p:nvSpPr>
          <p:cNvPr id="6" name="TextBox 5"/>
          <p:cNvSpPr txBox="1"/>
          <p:nvPr/>
        </p:nvSpPr>
        <p:spPr>
          <a:xfrm>
            <a:off x="548640" y="6400800"/>
            <a:ext cx="7315200" cy="320040"/>
          </a:xfrm>
          <a:prstGeom prst="rect">
            <a:avLst/>
          </a:prstGeom>
          <a:noFill/>
        </p:spPr>
        <p:txBody>
          <a:bodyPr wrap="square" lIns="45720" rIns="45720" tIns="18288" bIns="18288" anchor="t">
            <a:spAutoFit/>
          </a:bodyPr>
          <a:lstStyle/>
          <a:p>
            <a:pPr algn="l">
              <a:lnSpc>
                <a:spcPct val="110000"/>
              </a:lnSpc>
            </a:pPr>
            <a:r>
              <a:rPr sz="1100" b="0">
                <a:solidFill>
                  <a:srgbClr val="6B675C"/>
                </a:solidFill>
                <a:latin typeface="Arial"/>
              </a:rPr>
              <a:t>Жасыл Қазақстан · №23 мектеп-лицей, Қызылорда</a:t>
            </a:r>
          </a:p>
        </p:txBody>
      </p:sp>
      <p:sp>
        <p:nvSpPr>
          <p:cNvPr id="7" name="Rounded Rectangle 6"/>
          <p:cNvSpPr/>
          <p:nvPr/>
        </p:nvSpPr>
        <p:spPr>
          <a:xfrm>
            <a:off x="548640" y="1600200"/>
            <a:ext cx="5486400" cy="4572000"/>
          </a:xfrm>
          <a:prstGeom prst="roundRect">
            <a:avLst>
              <a:gd name="adj" fmla="val 8000"/>
            </a:avLst>
          </a:prstGeom>
          <a:solidFill>
            <a:srgbClr val="E7F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37360"/>
            <a:ext cx="5029200" cy="457200"/>
          </a:xfrm>
          <a:prstGeom prst="rect">
            <a:avLst/>
          </a:prstGeom>
          <a:noFill/>
        </p:spPr>
        <p:txBody>
          <a:bodyPr wrap="square" lIns="45720" rIns="45720" tIns="18288" bIns="18288" anchor="t">
            <a:spAutoFit/>
          </a:bodyPr>
          <a:lstStyle/>
          <a:p>
            <a:pPr algn="l">
              <a:lnSpc>
                <a:spcPct val="110000"/>
              </a:lnSpc>
            </a:pPr>
            <a:r>
              <a:rPr sz="2200" b="1">
                <a:solidFill>
                  <a:srgbClr val="1F4A2C"/>
                </a:solidFill>
                <a:latin typeface="Arial"/>
              </a:rPr>
              <a:t>Жасалды</a:t>
            </a:r>
          </a:p>
        </p:txBody>
      </p:sp>
      <p:sp>
        <p:nvSpPr>
          <p:cNvPr id="9" name="TextBox 8"/>
          <p:cNvSpPr txBox="1"/>
          <p:nvPr/>
        </p:nvSpPr>
        <p:spPr>
          <a:xfrm>
            <a:off x="822960" y="2286000"/>
            <a:ext cx="5029200" cy="3749039"/>
          </a:xfrm>
          <a:prstGeom prst="rect">
            <a:avLst/>
          </a:prstGeom>
          <a:noFill/>
        </p:spPr>
        <p:txBody>
          <a:bodyPr wrap="square" lIns="45720" rIns="45720" tIns="18288" bIns="18288" anchor="t">
            <a:spAutoFit/>
          </a:bodyPr>
          <a:lstStyle/>
          <a:p>
            <a:pPr algn="l">
              <a:lnSpc>
                <a:spcPct val="112000"/>
              </a:lnSpc>
            </a:pPr>
            <a:r>
              <a:rPr sz="1200" b="0">
                <a:solidFill>
                  <a:srgbClr val="4F8A3A"/>
                </a:solidFill>
                <a:latin typeface="Arial"/>
              </a:rPr>
              <a:t>● </a:t>
            </a:r>
            <a:r>
              <a:rPr sz="1600" b="0">
                <a:solidFill>
                  <a:srgbClr val="262A24"/>
                </a:solidFill>
                <a:latin typeface="Arial"/>
              </a:rPr>
              <a:t>Қазақ тіліндегі интерактивті экологиялық платформа</a:t>
            </a:r>
          </a:p>
          <a:p>
            <a:pPr algn="l">
              <a:lnSpc>
                <a:spcPct val="112000"/>
              </a:lnSpc>
              <a:spcBef>
                <a:spcPts val="700"/>
              </a:spcBef>
            </a:pPr>
            <a:r>
              <a:rPr sz="1200" b="0">
                <a:solidFill>
                  <a:srgbClr val="4F8A3A"/>
                </a:solidFill>
                <a:latin typeface="Arial"/>
              </a:rPr>
              <a:t>● </a:t>
            </a:r>
            <a:r>
              <a:rPr sz="1600" b="0">
                <a:solidFill>
                  <a:srgbClr val="262A24"/>
                </a:solidFill>
                <a:latin typeface="Arial"/>
              </a:rPr>
              <a:t>4 кабинеттің экопаспорты және «жасыл ұпай»</a:t>
            </a:r>
          </a:p>
          <a:p>
            <a:pPr algn="l">
              <a:lnSpc>
                <a:spcPct val="112000"/>
              </a:lnSpc>
              <a:spcBef>
                <a:spcPts val="700"/>
              </a:spcBef>
            </a:pPr>
            <a:r>
              <a:rPr sz="1200" b="0">
                <a:solidFill>
                  <a:srgbClr val="4F8A3A"/>
                </a:solidFill>
                <a:latin typeface="Arial"/>
              </a:rPr>
              <a:t>● </a:t>
            </a:r>
            <a:r>
              <a:rPr sz="1600" b="0">
                <a:solidFill>
                  <a:srgbClr val="262A24"/>
                </a:solidFill>
                <a:latin typeface="Arial"/>
              </a:rPr>
              <a:t>Датчиксіз CO₂ бағалау әдісі</a:t>
            </a:r>
          </a:p>
          <a:p>
            <a:pPr algn="l">
              <a:lnSpc>
                <a:spcPct val="112000"/>
              </a:lnSpc>
              <a:spcBef>
                <a:spcPts val="700"/>
              </a:spcBef>
            </a:pPr>
            <a:r>
              <a:rPr sz="1200" b="0">
                <a:solidFill>
                  <a:srgbClr val="4F8A3A"/>
                </a:solidFill>
                <a:latin typeface="Arial"/>
              </a:rPr>
              <a:t>● </a:t>
            </a:r>
            <a:r>
              <a:rPr sz="1600" b="0">
                <a:solidFill>
                  <a:srgbClr val="262A24"/>
                </a:solidFill>
                <a:latin typeface="Arial"/>
              </a:rPr>
              <a:t>Қызылорда топырағының интерактивті картасы</a:t>
            </a:r>
          </a:p>
          <a:p>
            <a:pPr algn="l">
              <a:lnSpc>
                <a:spcPct val="112000"/>
              </a:lnSpc>
              <a:spcBef>
                <a:spcPts val="700"/>
              </a:spcBef>
            </a:pPr>
            <a:r>
              <a:rPr sz="1200" b="0">
                <a:solidFill>
                  <a:srgbClr val="4F8A3A"/>
                </a:solidFill>
                <a:latin typeface="Arial"/>
              </a:rPr>
              <a:t>● </a:t>
            </a:r>
            <a:r>
              <a:rPr sz="1600" b="0">
                <a:solidFill>
                  <a:srgbClr val="262A24"/>
                </a:solidFill>
                <a:latin typeface="Arial"/>
              </a:rPr>
              <a:t>4 зертханалық тәжірибе, QR сауалнама</a:t>
            </a:r>
          </a:p>
          <a:p>
            <a:pPr algn="l">
              <a:lnSpc>
                <a:spcPct val="112000"/>
              </a:lnSpc>
              <a:spcBef>
                <a:spcPts val="700"/>
              </a:spcBef>
            </a:pPr>
            <a:r>
              <a:rPr sz="1200" b="0">
                <a:solidFill>
                  <a:srgbClr val="4F8A3A"/>
                </a:solidFill>
                <a:latin typeface="Arial"/>
              </a:rPr>
              <a:t>● </a:t>
            </a:r>
            <a:r>
              <a:rPr sz="1600" b="0">
                <a:solidFill>
                  <a:srgbClr val="262A24"/>
                </a:solidFill>
                <a:latin typeface="Arial"/>
              </a:rPr>
              <a:t>Деректерге сүйенген ЖИ экокеңесші</a:t>
            </a:r>
          </a:p>
        </p:txBody>
      </p:sp>
      <p:sp>
        <p:nvSpPr>
          <p:cNvPr id="10" name="Rounded Rectangle 9"/>
          <p:cNvSpPr/>
          <p:nvPr/>
        </p:nvSpPr>
        <p:spPr>
          <a:xfrm>
            <a:off x="6263640" y="1600200"/>
            <a:ext cx="5486400" cy="4572000"/>
          </a:xfrm>
          <a:prstGeom prst="roundRect">
            <a:avLst>
              <a:gd name="adj" fmla="val 8000"/>
            </a:avLst>
          </a:prstGeom>
          <a:solidFill>
            <a:srgbClr val="F6E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737360"/>
            <a:ext cx="5029200" cy="457200"/>
          </a:xfrm>
          <a:prstGeom prst="rect">
            <a:avLst/>
          </a:prstGeom>
          <a:noFill/>
        </p:spPr>
        <p:txBody>
          <a:bodyPr wrap="square" lIns="45720" rIns="45720" tIns="18288" bIns="18288" anchor="t">
            <a:spAutoFit/>
          </a:bodyPr>
          <a:lstStyle/>
          <a:p>
            <a:pPr algn="l">
              <a:lnSpc>
                <a:spcPct val="110000"/>
              </a:lnSpc>
            </a:pPr>
            <a:r>
              <a:rPr sz="2200" b="1">
                <a:solidFill>
                  <a:srgbClr val="1F4A2C"/>
                </a:solidFill>
                <a:latin typeface="Arial"/>
              </a:rPr>
              <a:t>Келесі қадам</a:t>
            </a:r>
          </a:p>
        </p:txBody>
      </p:sp>
      <p:sp>
        <p:nvSpPr>
          <p:cNvPr id="12" name="TextBox 11"/>
          <p:cNvSpPr txBox="1"/>
          <p:nvPr/>
        </p:nvSpPr>
        <p:spPr>
          <a:xfrm>
            <a:off x="6537960" y="2286000"/>
            <a:ext cx="5029200" cy="3749039"/>
          </a:xfrm>
          <a:prstGeom prst="rect">
            <a:avLst/>
          </a:prstGeom>
          <a:noFill/>
        </p:spPr>
        <p:txBody>
          <a:bodyPr wrap="square" lIns="45720" rIns="45720" tIns="18288" bIns="18288" anchor="t">
            <a:spAutoFit/>
          </a:bodyPr>
          <a:lstStyle/>
          <a:p>
            <a:pPr algn="l">
              <a:lnSpc>
                <a:spcPct val="112000"/>
              </a:lnSpc>
            </a:pPr>
            <a:r>
              <a:rPr sz="1200" b="0">
                <a:solidFill>
                  <a:srgbClr val="4F8A3A"/>
                </a:solidFill>
                <a:latin typeface="Arial"/>
              </a:rPr>
              <a:t>● </a:t>
            </a:r>
            <a:r>
              <a:rPr sz="1600" b="0">
                <a:solidFill>
                  <a:srgbClr val="262A24"/>
                </a:solidFill>
                <a:latin typeface="Arial"/>
              </a:rPr>
              <a:t>Нақты CO₂ датчигін қосып, онлайн бақылау</a:t>
            </a:r>
          </a:p>
          <a:p>
            <a:pPr algn="l">
              <a:lnSpc>
                <a:spcPct val="112000"/>
              </a:lnSpc>
              <a:spcBef>
                <a:spcPts val="700"/>
              </a:spcBef>
            </a:pPr>
            <a:r>
              <a:rPr sz="1200" b="0">
                <a:solidFill>
                  <a:srgbClr val="4F8A3A"/>
                </a:solidFill>
                <a:latin typeface="Arial"/>
              </a:rPr>
              <a:t>● </a:t>
            </a:r>
            <a:r>
              <a:rPr sz="1600" b="0">
                <a:solidFill>
                  <a:srgbClr val="262A24"/>
                </a:solidFill>
                <a:latin typeface="Arial"/>
              </a:rPr>
              <a:t>Шаң тәжірибесі мен сауалнаманы толық жинау</a:t>
            </a:r>
          </a:p>
          <a:p>
            <a:pPr algn="l">
              <a:lnSpc>
                <a:spcPct val="112000"/>
              </a:lnSpc>
              <a:spcBef>
                <a:spcPts val="700"/>
              </a:spcBef>
            </a:pPr>
            <a:r>
              <a:rPr sz="1200" b="0">
                <a:solidFill>
                  <a:srgbClr val="4F8A3A"/>
                </a:solidFill>
                <a:latin typeface="Arial"/>
              </a:rPr>
              <a:t>● </a:t>
            </a:r>
            <a:r>
              <a:rPr sz="1600" b="0">
                <a:solidFill>
                  <a:srgbClr val="262A24"/>
                </a:solidFill>
                <a:latin typeface="Arial"/>
              </a:rPr>
              <a:t>Басқа облыстардың топырағын толтыру</a:t>
            </a:r>
          </a:p>
          <a:p>
            <a:pPr algn="l">
              <a:lnSpc>
                <a:spcPct val="112000"/>
              </a:lnSpc>
              <a:spcBef>
                <a:spcPts val="700"/>
              </a:spcBef>
            </a:pPr>
            <a:r>
              <a:rPr sz="1200" b="0">
                <a:solidFill>
                  <a:srgbClr val="4F8A3A"/>
                </a:solidFill>
                <a:latin typeface="Arial"/>
              </a:rPr>
              <a:t>● </a:t>
            </a:r>
            <a:r>
              <a:rPr sz="1600" b="0">
                <a:solidFill>
                  <a:srgbClr val="262A24"/>
                </a:solidFill>
                <a:latin typeface="Arial"/>
              </a:rPr>
              <a:t>Басқа мектептерді қосып, мектептер рейтингін жасау</a:t>
            </a:r>
          </a:p>
          <a:p>
            <a:pPr algn="l">
              <a:lnSpc>
                <a:spcPct val="112000"/>
              </a:lnSpc>
              <a:spcBef>
                <a:spcPts val="700"/>
              </a:spcBef>
            </a:pPr>
            <a:r>
              <a:rPr sz="1200" b="0">
                <a:solidFill>
                  <a:srgbClr val="4F8A3A"/>
                </a:solidFill>
                <a:latin typeface="Arial"/>
              </a:rPr>
              <a:t>● </a:t>
            </a:r>
            <a:r>
              <a:rPr sz="1600" b="0">
                <a:solidFill>
                  <a:srgbClr val="262A24"/>
                </a:solidFill>
                <a:latin typeface="Arial"/>
              </a:rPr>
              <a:t>Оқушылардың «жасыл жобаларын» платформаға енгізу</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F4A2C"/>
        </a:solidFill>
        <a:effectLst/>
      </p:bgPr>
    </p:bg>
    <p:spTree>
      <p:nvGrpSpPr>
        <p:cNvPr id="1" name=""/>
        <p:cNvGrpSpPr/>
        <p:nvPr/>
      </p:nvGrpSpPr>
      <p:grpSpPr/>
      <p:pic>
        <p:nvPicPr>
          <p:cNvPr id="2" name="Picture 1" descr="garden.jpg"/>
          <p:cNvPicPr>
            <a:picLocks noChangeAspect="1"/>
          </p:cNvPicPr>
          <p:nvPr/>
        </p:nvPicPr>
        <p:blipFill>
          <a:blip r:embed="rId2"/>
          <a:srcRect t="5061" b="5061"/>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F4A2C">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8686800" cy="2377440"/>
          </a:xfrm>
          <a:prstGeom prst="rect">
            <a:avLst/>
          </a:prstGeom>
          <a:noFill/>
        </p:spPr>
        <p:txBody>
          <a:bodyPr wrap="square" lIns="45720" rIns="45720" tIns="18288" bIns="18288" anchor="t">
            <a:spAutoFit/>
          </a:bodyPr>
          <a:lstStyle/>
          <a:p>
            <a:pPr algn="l">
              <a:lnSpc>
                <a:spcPct val="100000"/>
              </a:lnSpc>
            </a:pPr>
            <a:r>
              <a:rPr sz="4600" b="1">
                <a:solidFill>
                  <a:srgbClr val="FFFFFF"/>
                </a:solidFill>
                <a:latin typeface="Arial"/>
              </a:rPr>
              <a:t>Жасыл Қазақстан</a:t>
            </a:r>
          </a:p>
          <a:p>
            <a:pPr algn="l">
              <a:lnSpc>
                <a:spcPct val="100000"/>
              </a:lnSpc>
            </a:pPr>
            <a:r>
              <a:rPr sz="4600" b="1">
                <a:solidFill>
                  <a:srgbClr val="FFFFFF"/>
                </a:solidFill>
                <a:latin typeface="Arial"/>
              </a:rPr>
              <a:t>бір кабинеттен,</a:t>
            </a:r>
          </a:p>
          <a:p>
            <a:pPr algn="l">
              <a:lnSpc>
                <a:spcPct val="100000"/>
              </a:lnSpc>
            </a:pPr>
            <a:r>
              <a:rPr sz="4600" b="1">
                <a:solidFill>
                  <a:srgbClr val="FFFFFF"/>
                </a:solidFill>
                <a:latin typeface="Arial"/>
              </a:rPr>
              <a:t>бір гүлден басталады.</a:t>
            </a:r>
          </a:p>
        </p:txBody>
      </p:sp>
      <p:sp>
        <p:nvSpPr>
          <p:cNvPr id="5" name="TextBox 4"/>
          <p:cNvSpPr txBox="1"/>
          <p:nvPr/>
        </p:nvSpPr>
        <p:spPr>
          <a:xfrm>
            <a:off x="822960" y="4297680"/>
            <a:ext cx="8229600" cy="548640"/>
          </a:xfrm>
          <a:prstGeom prst="rect">
            <a:avLst/>
          </a:prstGeom>
          <a:noFill/>
        </p:spPr>
        <p:txBody>
          <a:bodyPr wrap="square" lIns="45720" rIns="45720" tIns="18288" bIns="18288" anchor="t">
            <a:spAutoFit/>
          </a:bodyPr>
          <a:lstStyle/>
          <a:p>
            <a:pPr algn="l">
              <a:lnSpc>
                <a:spcPct val="110000"/>
              </a:lnSpc>
            </a:pPr>
            <a:r>
              <a:rPr sz="2600" b="1">
                <a:solidFill>
                  <a:srgbClr val="B9D8AE"/>
                </a:solidFill>
                <a:latin typeface="Arial"/>
              </a:rPr>
              <a:t>Назарларыңызға рахмет!</a:t>
            </a:r>
          </a:p>
        </p:txBody>
      </p:sp>
      <p:sp>
        <p:nvSpPr>
          <p:cNvPr id="6" name="TextBox 5"/>
          <p:cNvSpPr txBox="1"/>
          <p:nvPr/>
        </p:nvSpPr>
        <p:spPr>
          <a:xfrm>
            <a:off x="822960" y="4937760"/>
            <a:ext cx="8229600" cy="731520"/>
          </a:xfrm>
          <a:prstGeom prst="rect">
            <a:avLst/>
          </a:prstGeom>
          <a:noFill/>
        </p:spPr>
        <p:txBody>
          <a:bodyPr wrap="square" lIns="45720" rIns="45720" tIns="18288" bIns="18288" anchor="t">
            <a:spAutoFit/>
          </a:bodyPr>
          <a:lstStyle/>
          <a:p>
            <a:pPr algn="l">
              <a:lnSpc>
                <a:spcPct val="110000"/>
              </a:lnSpc>
            </a:pPr>
            <a:r>
              <a:rPr sz="1600" b="0">
                <a:solidFill>
                  <a:srgbClr val="ECF3E8"/>
                </a:solidFill>
                <a:latin typeface="Arial"/>
              </a:rPr>
              <a:t>Жәлел Қизатов атындағы №23 мектеп-лицей · Қызылорда</a:t>
            </a:r>
          </a:p>
        </p:txBody>
      </p:sp>
      <p:sp>
        <p:nvSpPr>
          <p:cNvPr id="7" name="Rounded Rectangle 6"/>
          <p:cNvSpPr/>
          <p:nvPr/>
        </p:nvSpPr>
        <p:spPr>
          <a:xfrm>
            <a:off x="9509760" y="3931920"/>
            <a:ext cx="2194560" cy="2514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r-site.png"/>
          <p:cNvPicPr>
            <a:picLocks noChangeAspect="1"/>
          </p:cNvPicPr>
          <p:nvPr/>
        </p:nvPicPr>
        <p:blipFill>
          <a:blip r:embed="rId3"/>
          <a:stretch>
            <a:fillRect/>
          </a:stretch>
        </p:blipFill>
        <p:spPr>
          <a:xfrm>
            <a:off x="9646920" y="4041648"/>
            <a:ext cx="1920240" cy="1920240"/>
          </a:xfrm>
          <a:prstGeom prst="rect">
            <a:avLst/>
          </a:prstGeom>
        </p:spPr>
      </p:pic>
      <p:sp>
        <p:nvSpPr>
          <p:cNvPr id="9" name="TextBox 8"/>
          <p:cNvSpPr txBox="1"/>
          <p:nvPr/>
        </p:nvSpPr>
        <p:spPr>
          <a:xfrm>
            <a:off x="9509760" y="5989320"/>
            <a:ext cx="2194560" cy="365760"/>
          </a:xfrm>
          <a:prstGeom prst="rect">
            <a:avLst/>
          </a:prstGeom>
          <a:noFill/>
        </p:spPr>
        <p:txBody>
          <a:bodyPr wrap="square" lIns="45720" rIns="45720" tIns="18288" bIns="18288" anchor="t">
            <a:spAutoFit/>
          </a:bodyPr>
          <a:lstStyle/>
          <a:p>
            <a:pPr algn="ctr">
              <a:lnSpc>
                <a:spcPct val="110000"/>
              </a:lnSpc>
            </a:pPr>
            <a:r>
              <a:rPr sz="1200" b="1">
                <a:solidFill>
                  <a:srgbClr val="1F4A2C"/>
                </a:solidFill>
                <a:latin typeface="Arial"/>
              </a:rPr>
              <a:t>Сайтқа өтіңіз</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